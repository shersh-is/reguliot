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91" r:id="rId2"/>
    <p:sldId id="289" r:id="rId3"/>
    <p:sldId id="271" r:id="rId4"/>
    <p:sldId id="258" r:id="rId5"/>
    <p:sldId id="259" r:id="rId6"/>
    <p:sldId id="261" r:id="rId7"/>
    <p:sldId id="262" r:id="rId8"/>
    <p:sldId id="275" r:id="rId9"/>
    <p:sldId id="278" r:id="rId10"/>
    <p:sldId id="290" r:id="rId11"/>
    <p:sldId id="287" r:id="rId12"/>
    <p:sldId id="284" r:id="rId13"/>
    <p:sldId id="286" r:id="rId14"/>
    <p:sldId id="280" r:id="rId15"/>
    <p:sldId id="283" r:id="rId16"/>
    <p:sldId id="288" r:id="rId17"/>
  </p:sldIdLst>
  <p:sldSz cx="18288000" cy="10287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Gotham" pitchFamily="50" charset="0"/>
      <p:regular r:id="rId28"/>
      <p:bold r:id="rId29"/>
      <p:italic r:id="rId30"/>
      <p:boldItalic r:id="rId31"/>
    </p:embeddedFont>
    <p:embeddedFont>
      <p:font typeface="Gotham Medium" pitchFamily="50" charset="0"/>
      <p:regular r:id="rId32"/>
      <p: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B6D5"/>
    <a:srgbClr val="77933C"/>
    <a:srgbClr val="953735"/>
    <a:srgbClr val="20B3D3"/>
    <a:srgbClr val="12AED0"/>
    <a:srgbClr val="80C5D7"/>
    <a:srgbClr val="B8CF8A"/>
    <a:srgbClr val="81A6D0"/>
    <a:srgbClr val="B5CE89"/>
    <a:srgbClr val="80A6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28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94401129522105E-2"/>
          <c:y val="2.2167631985844313E-2"/>
          <c:w val="0.93444282048100757"/>
          <c:h val="0.71086254391335568"/>
        </c:manualLayout>
      </c:layout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Убытки, %</c:v>
                </c:pt>
              </c:strCache>
            </c:strRef>
          </c:tx>
          <c:spPr>
            <a:ln w="34925" cap="rnd">
              <a:solidFill>
                <a:srgbClr val="C0000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Gotham" panose="020B0604020202020204" charset="0"/>
                    <a:ea typeface="+mn-ea"/>
                    <a:cs typeface="Gotham" panose="020B060402020202020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m/d/yyyy</c:formatCode>
                <c:ptCount val="5"/>
                <c:pt idx="0">
                  <c:v>44415</c:v>
                </c:pt>
                <c:pt idx="1">
                  <c:v>44417</c:v>
                </c:pt>
                <c:pt idx="2">
                  <c:v>44437</c:v>
                </c:pt>
                <c:pt idx="3">
                  <c:v>44439</c:v>
                </c:pt>
                <c:pt idx="4">
                  <c:v>44444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6.7</c:v>
                </c:pt>
                <c:pt idx="1">
                  <c:v>9.6</c:v>
                </c:pt>
                <c:pt idx="2">
                  <c:v>12.7</c:v>
                </c:pt>
                <c:pt idx="3">
                  <c:v>16.600000000000001</c:v>
                </c:pt>
                <c:pt idx="4">
                  <c:v>35.4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01F-4ED8-A6FC-C66AE32465B5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RPS, млн</c:v>
                </c:pt>
              </c:strCache>
            </c:strRef>
          </c:tx>
          <c:spPr>
            <a:ln w="34925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Gotham" panose="020B0604020202020204" charset="0"/>
                    <a:ea typeface="+mn-ea"/>
                    <a:cs typeface="Gotham" panose="020B060402020202020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m/d/yyyy</c:formatCode>
                <c:ptCount val="5"/>
                <c:pt idx="0">
                  <c:v>44415</c:v>
                </c:pt>
                <c:pt idx="1">
                  <c:v>44417</c:v>
                </c:pt>
                <c:pt idx="2">
                  <c:v>44437</c:v>
                </c:pt>
                <c:pt idx="3">
                  <c:v>44439</c:v>
                </c:pt>
                <c:pt idx="4">
                  <c:v>44444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5.2</c:v>
                </c:pt>
                <c:pt idx="1">
                  <c:v>6.5</c:v>
                </c:pt>
                <c:pt idx="2">
                  <c:v>9.6</c:v>
                </c:pt>
                <c:pt idx="3">
                  <c:v>10.9</c:v>
                </c:pt>
                <c:pt idx="4">
                  <c:v>21.8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01F-4ED8-A6FC-C66AE32465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7539040"/>
        <c:axId val="1007538624"/>
      </c:lineChart>
      <c:dateAx>
        <c:axId val="100753904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Gotham" panose="020B0604020202020204" charset="0"/>
                <a:ea typeface="+mn-ea"/>
                <a:cs typeface="Gotham" panose="020B0604020202020204" charset="0"/>
              </a:defRPr>
            </a:pPr>
            <a:endParaRPr lang="ru-RU"/>
          </a:p>
        </c:txPr>
        <c:crossAx val="1007538624"/>
        <c:crosses val="autoZero"/>
        <c:auto val="1"/>
        <c:lblOffset val="100"/>
        <c:baseTimeUnit val="days"/>
        <c:majorUnit val="3"/>
        <c:majorTimeUnit val="days"/>
        <c:minorUnit val="1"/>
        <c:minorTimeUnit val="days"/>
      </c:dateAx>
      <c:valAx>
        <c:axId val="1007538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Gotham" panose="020B0604020202020204" charset="0"/>
                <a:ea typeface="+mn-ea"/>
                <a:cs typeface="Gotham" panose="020B0604020202020204" charset="0"/>
              </a:defRPr>
            </a:pPr>
            <a:endParaRPr lang="ru-RU"/>
          </a:p>
        </c:txPr>
        <c:crossAx val="1007539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257926846890556"/>
          <c:y val="0.91724483077854579"/>
          <c:w val="0.35484146306218883"/>
          <c:h val="8.27551692214542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Gotham" panose="020B0604020202020204" charset="0"/>
              <a:ea typeface="+mn-ea"/>
              <a:cs typeface="Gotham" panose="020B0604020202020204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94401129522105E-2"/>
          <c:y val="2.2167631985844313E-2"/>
          <c:w val="0.93444282048100757"/>
          <c:h val="0.8246883719099071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 устройств, млрд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Gotham" panose="020B0604020202020204" charset="0"/>
                    <a:ea typeface="+mn-ea"/>
                    <a:cs typeface="Gotham" panose="020B060402020202020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2022 год</c:v>
                </c:pt>
                <c:pt idx="1">
                  <c:v>2023 год</c:v>
                </c:pt>
                <c:pt idx="2">
                  <c:v>2024 год</c:v>
                </c:pt>
                <c:pt idx="3">
                  <c:v>2025 год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14.3</c:v>
                </c:pt>
                <c:pt idx="1">
                  <c:v>16.7</c:v>
                </c:pt>
                <c:pt idx="2">
                  <c:v>23.6</c:v>
                </c:pt>
                <c:pt idx="3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06-4942-870A-A915E85E1D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Количество данных, Збайт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Gotham" panose="020B0604020202020204" charset="0"/>
                    <a:ea typeface="+mn-ea"/>
                    <a:cs typeface="Gotham" panose="020B060402020202020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2022 год</c:v>
                </c:pt>
                <c:pt idx="1">
                  <c:v>2023 год</c:v>
                </c:pt>
                <c:pt idx="2">
                  <c:v>2024 год</c:v>
                </c:pt>
                <c:pt idx="3">
                  <c:v>2025 год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</c:v>
                </c:pt>
                <c:pt idx="1">
                  <c:v>48</c:v>
                </c:pt>
                <c:pt idx="2">
                  <c:v>53</c:v>
                </c:pt>
                <c:pt idx="3">
                  <c:v>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06-4942-870A-A915E85E1D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Рост компаний, %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Gotham" panose="020B0604020202020204" charset="0"/>
                    <a:ea typeface="+mn-ea"/>
                    <a:cs typeface="Gotham" panose="020B060402020202020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2022 год</c:v>
                </c:pt>
                <c:pt idx="1">
                  <c:v>2023 год</c:v>
                </c:pt>
                <c:pt idx="2">
                  <c:v>2024 год</c:v>
                </c:pt>
                <c:pt idx="3">
                  <c:v>2025 год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27</c:v>
                </c:pt>
                <c:pt idx="2">
                  <c:v>32</c:v>
                </c:pt>
                <c:pt idx="3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106-4942-870A-A915E85E1D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7539040"/>
        <c:axId val="1007538624"/>
      </c:lineChart>
      <c:catAx>
        <c:axId val="1007539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Gotham" panose="020B0604020202020204" charset="0"/>
                <a:ea typeface="+mn-ea"/>
                <a:cs typeface="Gotham" panose="020B0604020202020204" charset="0"/>
              </a:defRPr>
            </a:pPr>
            <a:endParaRPr lang="ru-RU"/>
          </a:p>
        </c:txPr>
        <c:crossAx val="1007538624"/>
        <c:crosses val="autoZero"/>
        <c:auto val="1"/>
        <c:lblAlgn val="ctr"/>
        <c:lblOffset val="100"/>
        <c:noMultiLvlLbl val="0"/>
      </c:catAx>
      <c:valAx>
        <c:axId val="1007538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Gotham" panose="020B0604020202020204" charset="0"/>
                <a:ea typeface="+mn-ea"/>
                <a:cs typeface="Gotham" panose="020B0604020202020204" charset="0"/>
              </a:defRPr>
            </a:pPr>
            <a:endParaRPr lang="ru-RU"/>
          </a:p>
        </c:txPr>
        <c:crossAx val="1007539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Gotham" panose="020B0604020202020204" charset="0"/>
              <a:ea typeface="+mn-ea"/>
              <a:cs typeface="Gotham" panose="020B0604020202020204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459111924910345E-2"/>
          <c:y val="2.6362171819502567E-3"/>
          <c:w val="0.81811580952934626"/>
          <c:h val="0.8646655356533844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DCC-4117-A0CC-DBD4AE6ED94E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DCC-4117-A0CC-DBD4AE6ED94E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DCC-4117-A0CC-DBD4AE6ED94E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DCC-4117-A0CC-DBD4AE6ED94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Gotham" panose="020B0604020202020204" charset="0"/>
                    <a:ea typeface="+mn-ea"/>
                    <a:cs typeface="Gotham" panose="020B060402020202020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Оборудование</c:v>
                </c:pt>
                <c:pt idx="1">
                  <c:v>Услуги</c:v>
                </c:pt>
                <c:pt idx="2">
                  <c:v>ПО</c:v>
                </c:pt>
                <c:pt idx="3">
                  <c:v>Связь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30.6</c:v>
                </c:pt>
                <c:pt idx="1">
                  <c:v>27.5</c:v>
                </c:pt>
                <c:pt idx="2">
                  <c:v>25</c:v>
                </c:pt>
                <c:pt idx="3">
                  <c:v>16.899999999999999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27-469F-8B45-C7BE275380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Gotham" panose="020B0604020202020204" charset="0"/>
              <a:ea typeface="+mn-ea"/>
              <a:cs typeface="Gotham" panose="020B0604020202020204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Группа 1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Подключение и настройка</c:v>
                </c:pt>
                <c:pt idx="1">
                  <c:v>Сканирование сети и нахождение устройств</c:v>
                </c:pt>
                <c:pt idx="2">
                  <c:v>Работа ИИ</c:v>
                </c:pt>
                <c:pt idx="3">
                  <c:v>Эксперимент по нахождению уязвимости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6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54-4474-93AE-F92A4642F1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Группа 2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Подключение и настройка</c:v>
                </c:pt>
                <c:pt idx="1">
                  <c:v>Сканирование сети и нахождение устройств</c:v>
                </c:pt>
                <c:pt idx="2">
                  <c:v>Работа ИИ</c:v>
                </c:pt>
                <c:pt idx="3">
                  <c:v>Эксперимент по нахождению уязвимости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7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54-4474-93AE-F92A4642F1E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Группа 3</c:v>
                </c:pt>
              </c:strCache>
            </c:strRef>
          </c:tx>
          <c:spPr>
            <a:solidFill>
              <a:schemeClr val="accent5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Подключение и настройка</c:v>
                </c:pt>
                <c:pt idx="1">
                  <c:v>Сканирование сети и нахождение устройств</c:v>
                </c:pt>
                <c:pt idx="2">
                  <c:v>Работа ИИ</c:v>
                </c:pt>
                <c:pt idx="3">
                  <c:v>Эксперимент по нахождению уязвимости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</c:v>
                </c:pt>
                <c:pt idx="1">
                  <c:v>10</c:v>
                </c:pt>
                <c:pt idx="2">
                  <c:v>3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054-4474-93AE-F92A4642F1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1666949583"/>
        <c:axId val="1666949999"/>
      </c:barChart>
      <c:catAx>
        <c:axId val="1666949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cap="none" spc="20" normalizeH="0" baseline="0">
                <a:solidFill>
                  <a:schemeClr val="tx1"/>
                </a:solidFill>
                <a:latin typeface="Gotham" panose="020B0604020202020204" charset="0"/>
                <a:ea typeface="+mn-ea"/>
                <a:cs typeface="Gotham" panose="020B0604020202020204" charset="0"/>
              </a:defRPr>
            </a:pPr>
            <a:endParaRPr lang="ru-RU"/>
          </a:p>
        </c:txPr>
        <c:crossAx val="1666949999"/>
        <c:crosses val="autoZero"/>
        <c:auto val="1"/>
        <c:lblAlgn val="ctr"/>
        <c:lblOffset val="100"/>
        <c:noMultiLvlLbl val="0"/>
      </c:catAx>
      <c:valAx>
        <c:axId val="1666949999"/>
        <c:scaling>
          <c:orientation val="minMax"/>
          <c:max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spc="20" baseline="0">
                <a:solidFill>
                  <a:schemeClr val="tx1"/>
                </a:solidFill>
                <a:latin typeface="Gotham" panose="020B0604020202020204" charset="0"/>
                <a:ea typeface="+mn-ea"/>
                <a:cs typeface="Gotham" panose="020B0604020202020204" charset="0"/>
              </a:defRPr>
            </a:pPr>
            <a:endParaRPr lang="ru-RU"/>
          </a:p>
        </c:txPr>
        <c:crossAx val="1666949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525E32-57E2-4444-A1D1-3137C8E3F5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3209B-4AD1-4D39-954B-66D2DA0379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1D13A-CF08-4424-A1D1-67D0E6F55D39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70157-F481-4B4E-936B-675D2759D5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ED80B-59F7-4A91-8C6F-A6D54B3B46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8046B-3DF1-4583-849B-B64331C959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7118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5E4DF-0966-49A2-8BE0-0EAEC74D6258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FC5A6-2EFC-46E8-9B59-91B754243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166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2FC5A6-2EFC-46E8-9B59-91B754243A6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61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2FC5A6-2EFC-46E8-9B59-91B754243A6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169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2FC5A6-2EFC-46E8-9B59-91B754243A6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818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2E3C-CF28-4564-9FEE-28BADAD7425C}" type="datetime1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519D3-2905-4BEC-8131-818BDF62E30A}" type="datetime1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EEE9-77E2-40CE-B828-603FA40AA5EA}" type="datetime1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DBC2-88B0-40D0-B863-29E29ABBB67D}" type="datetime1">
              <a:rPr lang="en-US" smtClean="0"/>
              <a:t>4/14/2024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84A6A-4D1A-4023-9BF7-98343A72B6E8}" type="datetime1">
              <a:rPr lang="en-US" smtClean="0"/>
              <a:t>4/14/2024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05CBA-585E-4B06-8C6D-CFCC7BB931FA}" type="datetime1">
              <a:rPr lang="en-US" smtClean="0"/>
              <a:t>4/14/2024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5D36-47D3-4CC7-BAEF-198445BEE3F0}" type="datetime1">
              <a:rPr lang="en-US" smtClean="0"/>
              <a:t>4/14/2024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A67C4-2018-4AE9-B359-CC4F0CC4F480}" type="datetime1">
              <a:rPr lang="en-US" smtClean="0"/>
              <a:t>4/14/2024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71002-93E7-48E6-B132-5CF3DEDA53DB}" type="datetime1">
              <a:rPr lang="en-US" smtClean="0"/>
              <a:t>4/14/2024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E518-BD80-4B40-B8C8-0676A27696FD}" type="datetime1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3F004-DEF8-477C-8319-2E035BC797CD}" type="datetime1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1BB04-CA90-4336-837F-CADF8F127415}" type="datetime1">
              <a:rPr lang="en-US" smtClean="0"/>
              <a:t>4/14/2024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sv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>
            <a:extLst>
              <a:ext uri="{FF2B5EF4-FFF2-40B4-BE49-F238E27FC236}">
                <a16:creationId xmlns:a16="http://schemas.microsoft.com/office/drawing/2014/main" id="{DF2E1BAD-B38F-4A48-8481-C62E992F3DD8}"/>
              </a:ext>
            </a:extLst>
          </p:cNvPr>
          <p:cNvSpPr/>
          <p:nvPr/>
        </p:nvSpPr>
        <p:spPr>
          <a:xfrm flipV="1">
            <a:off x="4554855" y="13769341"/>
            <a:ext cx="196850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33B3CD6-96BD-44C8-A341-2467242CF443}"/>
              </a:ext>
            </a:extLst>
          </p:cNvPr>
          <p:cNvSpPr/>
          <p:nvPr/>
        </p:nvSpPr>
        <p:spPr>
          <a:xfrm flipV="1">
            <a:off x="4538345" y="13858876"/>
            <a:ext cx="226060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8BD7078-80D2-4476-A70F-6E6247A3D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577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B76C1C6-F87B-47C9-BEBB-0A7C68680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0" y="9512652"/>
            <a:ext cx="2819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Иннополис 2024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6AF1C-7A46-4D76-BAE7-27D0B9BA7612}"/>
              </a:ext>
            </a:extLst>
          </p:cNvPr>
          <p:cNvSpPr txBox="1"/>
          <p:nvPr/>
        </p:nvSpPr>
        <p:spPr>
          <a:xfrm>
            <a:off x="2514600" y="312683"/>
            <a:ext cx="12649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49263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43113" algn="l"/>
              </a:tabLst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МИНИСТЕРСТВО ОБРАЗОВАНИЯ И НАУКИ РЕСПУБЛИКИ ТАТАРСТАН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49263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43113" algn="l"/>
              </a:tabLst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ГОСУДАРСТВЕННОЕ АВТОНОМНОЕ ОБЩЕОБРАЗОВАТЕЛЬНОЕ УЧРЕЖДЕНИЕ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ЛИЦЕЙ ИННОПОЛИС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A6CF0A-0510-49A4-B6CF-06447A48AE76}"/>
              </a:ext>
            </a:extLst>
          </p:cNvPr>
          <p:cNvSpPr txBox="1"/>
          <p:nvPr/>
        </p:nvSpPr>
        <p:spPr>
          <a:xfrm>
            <a:off x="3657600" y="2927483"/>
            <a:ext cx="10972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49263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43113" algn="l"/>
              </a:tabLst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ПРЕЗЕНТАЦИЯ ТВОРЧЕСКОГО ПРОЕКТА</a:t>
            </a:r>
          </a:p>
          <a:p>
            <a:pPr marL="0" marR="0" lvl="0" indent="449263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43113" algn="l"/>
              </a:tabLst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заключительного этапа Всероссийской олимпиады школьников по технологии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профиль: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Информационная безопасность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49263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43113" algn="l"/>
              </a:tabLst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теме: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RegulIoT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умное обеспечение безопасности Интернета Вещей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8614BC-A0A9-4998-8E59-2CADCB1EC60A}"/>
              </a:ext>
            </a:extLst>
          </p:cNvPr>
          <p:cNvSpPr txBox="1"/>
          <p:nvPr/>
        </p:nvSpPr>
        <p:spPr>
          <a:xfrm>
            <a:off x="10210800" y="6004624"/>
            <a:ext cx="8686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49263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43113" algn="l"/>
              </a:tabLst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Выполнила: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ученица 11 класса ГАОУ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Лицей Иннополис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Юрина Виктория Никитична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49263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43113" algn="l"/>
              </a:tabLst>
            </a:pPr>
            <a:endParaRPr lang="ru-RU" altLang="ru-RU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49263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43113" algn="l"/>
              </a:tabLst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Научный руководитель: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Михайлов Михаил Леонидович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заместитель директора по информатизации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7531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396853" y="1828696"/>
            <a:ext cx="17540853" cy="17540853"/>
          </a:xfrm>
          <a:custGeom>
            <a:avLst/>
            <a:gdLst/>
            <a:ahLst/>
            <a:cxnLst/>
            <a:rect l="l" t="t" r="r" b="b"/>
            <a:pathLst>
              <a:path w="17540853" h="17540853">
                <a:moveTo>
                  <a:pt x="0" y="0"/>
                </a:moveTo>
                <a:lnTo>
                  <a:pt x="17540853" y="0"/>
                </a:lnTo>
                <a:lnTo>
                  <a:pt x="17540853" y="17540853"/>
                </a:lnTo>
                <a:lnTo>
                  <a:pt x="0" y="175408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7696200" y="-8090497"/>
            <a:ext cx="15937397" cy="15937397"/>
          </a:xfrm>
          <a:custGeom>
            <a:avLst/>
            <a:gdLst/>
            <a:ahLst/>
            <a:cxnLst/>
            <a:rect l="l" t="t" r="r" b="b"/>
            <a:pathLst>
              <a:path w="15937397" h="15937397">
                <a:moveTo>
                  <a:pt x="0" y="0"/>
                </a:moveTo>
                <a:lnTo>
                  <a:pt x="15937397" y="0"/>
                </a:lnTo>
                <a:lnTo>
                  <a:pt x="15937397" y="15937397"/>
                </a:lnTo>
                <a:lnTo>
                  <a:pt x="0" y="15937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028700" y="73533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9CA70E-2072-44A4-9B50-E5599D7F8F06}"/>
              </a:ext>
            </a:extLst>
          </p:cNvPr>
          <p:cNvSpPr txBox="1"/>
          <p:nvPr/>
        </p:nvSpPr>
        <p:spPr>
          <a:xfrm>
            <a:off x="1028700" y="3322083"/>
            <a:ext cx="162306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dirty="0" err="1">
                <a:latin typeface="Gotham Medium" pitchFamily="50" charset="0"/>
                <a:cs typeface="Gotham Medium" pitchFamily="50" charset="0"/>
              </a:rPr>
              <a:t>RegulIoT</a:t>
            </a:r>
            <a:endParaRPr lang="en-US" sz="8800" dirty="0">
              <a:latin typeface="Gotham Medium" pitchFamily="50" charset="0"/>
              <a:cs typeface="Gotham Medium" pitchFamily="50" charset="0"/>
            </a:endParaRPr>
          </a:p>
          <a:p>
            <a:r>
              <a:rPr lang="ru-RU" sz="7200" dirty="0">
                <a:latin typeface="Gotham"/>
              </a:rPr>
              <a:t>умное обеспечение безопасности</a:t>
            </a:r>
            <a:r>
              <a:rPr lang="en-US" sz="7200" dirty="0">
                <a:latin typeface="Gotham"/>
              </a:rPr>
              <a:t> Интернета </a:t>
            </a:r>
            <a:r>
              <a:rPr lang="ru-RU" sz="7200" dirty="0">
                <a:latin typeface="Gotham"/>
              </a:rPr>
              <a:t>в</a:t>
            </a:r>
            <a:r>
              <a:rPr lang="en-US" sz="7200" dirty="0">
                <a:latin typeface="Gotham"/>
              </a:rPr>
              <a:t>ещей </a:t>
            </a:r>
          </a:p>
        </p:txBody>
      </p:sp>
    </p:spTree>
    <p:extLst>
      <p:ext uri="{BB962C8B-B14F-4D97-AF65-F5344CB8AC3E}">
        <p14:creationId xmlns:p14="http://schemas.microsoft.com/office/powerpoint/2010/main" val="3037301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-139916"/>
            <a:ext cx="18382649" cy="11029589"/>
          </a:xfrm>
          <a:custGeom>
            <a:avLst/>
            <a:gdLst/>
            <a:ahLst/>
            <a:cxnLst/>
            <a:rect l="l" t="t" r="r" b="b"/>
            <a:pathLst>
              <a:path w="18382649" h="11029589">
                <a:moveTo>
                  <a:pt x="18382649" y="11029589"/>
                </a:moveTo>
                <a:lnTo>
                  <a:pt x="0" y="11029589"/>
                </a:lnTo>
                <a:lnTo>
                  <a:pt x="0" y="0"/>
                </a:lnTo>
                <a:lnTo>
                  <a:pt x="18382649" y="0"/>
                </a:lnTo>
                <a:lnTo>
                  <a:pt x="18382649" y="110295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8" name="AutoShape 8"/>
          <p:cNvSpPr/>
          <p:nvPr/>
        </p:nvSpPr>
        <p:spPr>
          <a:xfrm rot="1809" flipV="1">
            <a:off x="-13131" y="5367263"/>
            <a:ext cx="18382633" cy="35507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5695946" y="617660"/>
            <a:ext cx="689610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ru-RU" sz="9600" dirty="0">
                <a:solidFill>
                  <a:srgbClr val="FFFFFF"/>
                </a:solidFill>
                <a:latin typeface="Gotham Medium" pitchFamily="50" charset="0"/>
                <a:cs typeface="Gotham Medium" pitchFamily="50" charset="0"/>
              </a:rPr>
              <a:t>Проблема</a:t>
            </a:r>
            <a:endParaRPr lang="en-US" sz="9600" dirty="0">
              <a:solidFill>
                <a:srgbClr val="FFFFFF"/>
              </a:solidFill>
              <a:latin typeface="Gotham Medium" pitchFamily="50" charset="0"/>
              <a:cs typeface="Gotham Medium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331A4-B0CB-466D-984A-D9029FD4A14C}"/>
              </a:ext>
            </a:extLst>
          </p:cNvPr>
          <p:cNvSpPr txBox="1"/>
          <p:nvPr/>
        </p:nvSpPr>
        <p:spPr>
          <a:xfrm>
            <a:off x="2824160" y="1960000"/>
            <a:ext cx="126396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продолжительное наличие уязвимостей в устройствах Интернета вещей, потен</a:t>
            </a:r>
            <a:r>
              <a:rPr lang="en-US" sz="4000" dirty="0">
                <a:solidFill>
                  <a:schemeClr val="bg1"/>
                </a:solidFill>
                <a:latin typeface="Gotham" pitchFamily="50" charset="0"/>
                <a:cs typeface="Gotham" pitchFamily="50" charset="0"/>
              </a:rPr>
              <a:t>ц</a:t>
            </a:r>
            <a:r>
              <a:rPr lang="ru-RU" sz="4000" dirty="0">
                <a:solidFill>
                  <a:schemeClr val="bg1"/>
                </a:solidFill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иальных для дальнейшей </a:t>
            </a:r>
            <a:r>
              <a:rPr lang="ru-RU" sz="4000" dirty="0">
                <a:solidFill>
                  <a:schemeClr val="bg1"/>
                </a:solidFill>
                <a:latin typeface="Gotham" pitchFamily="50" charset="0"/>
                <a:cs typeface="Gotham" pitchFamily="50" charset="0"/>
              </a:rPr>
              <a:t>э</a:t>
            </a:r>
            <a:r>
              <a:rPr lang="ru-RU" sz="4000" dirty="0">
                <a:solidFill>
                  <a:schemeClr val="bg1"/>
                </a:solidFill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ксплуатации</a:t>
            </a:r>
            <a:endParaRPr lang="ru-RU" sz="4000" dirty="0">
              <a:solidFill>
                <a:schemeClr val="bg1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5304A-84DB-4A66-A833-31EDC0CCB907}"/>
              </a:ext>
            </a:extLst>
          </p:cNvPr>
          <p:cNvSpPr/>
          <p:nvPr/>
        </p:nvSpPr>
        <p:spPr>
          <a:xfrm>
            <a:off x="28901" y="4315458"/>
            <a:ext cx="18435205" cy="68791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B3D39B7-D051-4D4C-AD8E-183E8116DCC9}"/>
              </a:ext>
            </a:extLst>
          </p:cNvPr>
          <p:cNvSpPr/>
          <p:nvPr/>
        </p:nvSpPr>
        <p:spPr>
          <a:xfrm>
            <a:off x="28901" y="4315160"/>
            <a:ext cx="8705196" cy="4343456"/>
          </a:xfrm>
          <a:custGeom>
            <a:avLst/>
            <a:gdLst/>
            <a:ahLst/>
            <a:cxnLst/>
            <a:rect l="l" t="t" r="r" b="b"/>
            <a:pathLst>
              <a:path w="9144282" h="5141119">
                <a:moveTo>
                  <a:pt x="0" y="0"/>
                </a:moveTo>
                <a:lnTo>
                  <a:pt x="9144283" y="0"/>
                </a:lnTo>
                <a:lnTo>
                  <a:pt x="9144283" y="5141119"/>
                </a:lnTo>
                <a:lnTo>
                  <a:pt x="0" y="5141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234" b="-12808"/>
            </a:stretch>
          </a:blipFill>
        </p:spPr>
      </p:sp>
      <p:sp>
        <p:nvSpPr>
          <p:cNvPr id="26" name="Slide Number Placeholder 8">
            <a:extLst>
              <a:ext uri="{FF2B5EF4-FFF2-40B4-BE49-F238E27FC236}">
                <a16:creationId xmlns:a16="http://schemas.microsoft.com/office/drawing/2014/main" id="{7D41D7B5-8038-45D7-8ADC-FF7A9C1EA7F0}"/>
              </a:ext>
            </a:extLst>
          </p:cNvPr>
          <p:cNvSpPr txBox="1">
            <a:spLocks/>
          </p:cNvSpPr>
          <p:nvPr/>
        </p:nvSpPr>
        <p:spPr>
          <a:xfrm>
            <a:off x="8305800" y="982673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54BB9560-3BAF-4B3F-A7E3-F0668A8CBA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9429189"/>
              </p:ext>
            </p:extLst>
          </p:nvPr>
        </p:nvGraphicFramePr>
        <p:xfrm>
          <a:off x="8605372" y="4533901"/>
          <a:ext cx="8734099" cy="48766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052" name="Picture 4">
            <a:extLst>
              <a:ext uri="{FF2B5EF4-FFF2-40B4-BE49-F238E27FC236}">
                <a16:creationId xmlns:a16="http://schemas.microsoft.com/office/drawing/2014/main" id="{4E17F848-FC81-4109-9D06-3ABEA6C62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5504" y="4568316"/>
            <a:ext cx="1430592" cy="143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CEB931FE-F652-446C-9C8D-CEF65EBE53DA}"/>
              </a:ext>
            </a:extLst>
          </p:cNvPr>
          <p:cNvSpPr txBox="1">
            <a:spLocks/>
          </p:cNvSpPr>
          <p:nvPr/>
        </p:nvSpPr>
        <p:spPr>
          <a:xfrm>
            <a:off x="80772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2589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33600" y="-10472465"/>
            <a:ext cx="15768684" cy="15768684"/>
          </a:xfrm>
          <a:custGeom>
            <a:avLst/>
            <a:gdLst/>
            <a:ahLst/>
            <a:cxnLst/>
            <a:rect l="l" t="t" r="r" b="b"/>
            <a:pathLst>
              <a:path w="15768684" h="15768684">
                <a:moveTo>
                  <a:pt x="0" y="0"/>
                </a:moveTo>
                <a:lnTo>
                  <a:pt x="15768684" y="0"/>
                </a:lnTo>
                <a:lnTo>
                  <a:pt x="15768684" y="15768684"/>
                </a:lnTo>
                <a:lnTo>
                  <a:pt x="0" y="15768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92756" y="1059698"/>
            <a:ext cx="14633286" cy="3990298"/>
            <a:chOff x="-2465148" y="-3838887"/>
            <a:chExt cx="19511046" cy="5320398"/>
          </a:xfrm>
        </p:grpSpPr>
        <p:sp>
          <p:nvSpPr>
            <p:cNvPr id="5" name="TextBox 5"/>
            <p:cNvSpPr txBox="1"/>
            <p:nvPr/>
          </p:nvSpPr>
          <p:spPr>
            <a:xfrm>
              <a:off x="-2465148" y="-1473144"/>
              <a:ext cx="7966334" cy="29546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ru-RU" sz="3600" dirty="0">
                  <a:effectLst/>
                  <a:latin typeface="Gotham" panose="020B0604020202020204" charset="0"/>
                  <a:ea typeface="Calibri" panose="020F0502020204030204" pitchFamily="34" charset="0"/>
                  <a:cs typeface="Gotham" panose="020B0604020202020204" charset="0"/>
                </a:rPr>
                <a:t>Необходимость развития устойчивых и </a:t>
              </a:r>
              <a:r>
                <a:rPr lang="ru-RU" sz="3600" dirty="0">
                  <a:effectLst/>
                  <a:latin typeface="Gotham" pitchFamily="50" charset="0"/>
                  <a:ea typeface="Calibri" panose="020F0502020204030204" pitchFamily="34" charset="0"/>
                  <a:cs typeface="Gotham" pitchFamily="50" charset="0"/>
                </a:rPr>
                <a:t>безопасных </a:t>
              </a:r>
              <a:r>
                <a:rPr lang="ru-RU" sz="3600" dirty="0">
                  <a:solidFill>
                    <a:srgbClr val="000000"/>
                  </a:solidFill>
                  <a:latin typeface="Gotham" pitchFamily="50" charset="0"/>
                  <a:cs typeface="Gotham" pitchFamily="50" charset="0"/>
                </a:rPr>
                <a:t>э</a:t>
              </a:r>
              <a:r>
                <a:rPr lang="ru-RU" sz="3600" dirty="0">
                  <a:effectLst/>
                  <a:latin typeface="Gotham" pitchFamily="50" charset="0"/>
                  <a:ea typeface="Calibri" panose="020F0502020204030204" pitchFamily="34" charset="0"/>
                  <a:cs typeface="Gotham" pitchFamily="50" charset="0"/>
                </a:rPr>
                <a:t>косистем </a:t>
              </a:r>
              <a:r>
                <a:rPr lang="ru-RU" sz="3600" dirty="0">
                  <a:effectLst/>
                  <a:latin typeface="Gotham" panose="020B0604020202020204" charset="0"/>
                  <a:ea typeface="Calibri" panose="020F0502020204030204" pitchFamily="34" charset="0"/>
                  <a:cs typeface="Gotham" panose="020B0604020202020204" charset="0"/>
                </a:rPr>
                <a:t>устройств</a:t>
              </a:r>
              <a:endParaRPr lang="en-US" sz="4400" dirty="0">
                <a:solidFill>
                  <a:srgbClr val="000000"/>
                </a:solidFill>
                <a:latin typeface="Gotham" panose="020B0604020202020204" charset="0"/>
                <a:cs typeface="Gotham" panose="020B060402020202020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27121" y="-3838887"/>
              <a:ext cx="17073019" cy="1663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00"/>
                </a:lnSpc>
              </a:pPr>
              <a:r>
                <a:rPr lang="ru-RU" sz="8800" dirty="0">
                  <a:solidFill>
                    <a:srgbClr val="000000"/>
                  </a:solidFill>
                  <a:latin typeface="Gotham Medium" pitchFamily="50" charset="0"/>
                  <a:cs typeface="Gotham Medium" pitchFamily="50" charset="0"/>
                </a:rPr>
                <a:t>Актуальность</a:t>
              </a:r>
              <a:endParaRPr lang="en-US" sz="8800" dirty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endParaRPr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8801100"/>
            <a:ext cx="16230600" cy="0"/>
          </a:xfrm>
          <a:prstGeom prst="line">
            <a:avLst/>
          </a:prstGeom>
          <a:ln w="254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4EF00096-27A6-47DE-AA69-9CE83A80D227}"/>
              </a:ext>
            </a:extLst>
          </p:cNvPr>
          <p:cNvSpPr txBox="1"/>
          <p:nvPr/>
        </p:nvSpPr>
        <p:spPr>
          <a:xfrm>
            <a:off x="6245535" y="5994072"/>
            <a:ext cx="5756248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3600" dirty="0">
                <a:effectLst/>
                <a:latin typeface="Gotham" panose="020B0604020202020204" charset="0"/>
                <a:ea typeface="Calibri" panose="020F0502020204030204" pitchFamily="34" charset="0"/>
                <a:cs typeface="Gotham" panose="020B0604020202020204" charset="0"/>
              </a:rPr>
              <a:t>Требования современного общества и производства</a:t>
            </a:r>
            <a:endParaRPr lang="en-US" sz="4400" dirty="0">
              <a:solidFill>
                <a:srgbClr val="000000"/>
              </a:solidFill>
              <a:latin typeface="Gotham" panose="020B0604020202020204" charset="0"/>
              <a:cs typeface="Gotham" panose="020B0604020202020204" charset="0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A58F4665-CB7A-4A56-8B6E-AC3E0ED19FFA}"/>
              </a:ext>
            </a:extLst>
          </p:cNvPr>
          <p:cNvSpPr txBox="1"/>
          <p:nvPr/>
        </p:nvSpPr>
        <p:spPr>
          <a:xfrm>
            <a:off x="11697999" y="2970840"/>
            <a:ext cx="5406502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3600" dirty="0">
                <a:solidFill>
                  <a:srgbClr val="000000"/>
                </a:solidFill>
                <a:latin typeface="Gotham" panose="020B0604020202020204" charset="0"/>
                <a:cs typeface="Gotham" panose="020B0604020202020204" charset="0"/>
              </a:rPr>
              <a:t>Сохранность критической инфраструктуры</a:t>
            </a:r>
            <a:endParaRPr lang="en-US" sz="3600" dirty="0">
              <a:solidFill>
                <a:srgbClr val="000000"/>
              </a:solidFill>
              <a:latin typeface="Gotham" panose="020B0604020202020204" charset="0"/>
              <a:cs typeface="Gotham" panose="020B0604020202020204" charset="0"/>
            </a:endParaRPr>
          </a:p>
        </p:txBody>
      </p:sp>
      <p:sp>
        <p:nvSpPr>
          <p:cNvPr id="12" name="Freeform 15">
            <a:extLst>
              <a:ext uri="{FF2B5EF4-FFF2-40B4-BE49-F238E27FC236}">
                <a16:creationId xmlns:a16="http://schemas.microsoft.com/office/drawing/2014/main" id="{C4F3DBA7-3D43-4058-93A3-C5EA9A445849}"/>
              </a:ext>
            </a:extLst>
          </p:cNvPr>
          <p:cNvSpPr/>
          <p:nvPr/>
        </p:nvSpPr>
        <p:spPr>
          <a:xfrm>
            <a:off x="13102011" y="5310575"/>
            <a:ext cx="2598478" cy="2616500"/>
          </a:xfrm>
          <a:custGeom>
            <a:avLst/>
            <a:gdLst/>
            <a:ahLst/>
            <a:cxnLst/>
            <a:rect l="l" t="t" r="r" b="b"/>
            <a:pathLst>
              <a:path w="1662960" h="1662960">
                <a:moveTo>
                  <a:pt x="0" y="0"/>
                </a:moveTo>
                <a:lnTo>
                  <a:pt x="1662960" y="0"/>
                </a:lnTo>
                <a:lnTo>
                  <a:pt x="1662960" y="1662960"/>
                </a:lnTo>
                <a:lnTo>
                  <a:pt x="0" y="1662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5">
            <a:extLst>
              <a:ext uri="{FF2B5EF4-FFF2-40B4-BE49-F238E27FC236}">
                <a16:creationId xmlns:a16="http://schemas.microsoft.com/office/drawing/2014/main" id="{1757992D-7A80-4CBD-8FC8-DE8EE5B47E58}"/>
              </a:ext>
            </a:extLst>
          </p:cNvPr>
          <p:cNvSpPr/>
          <p:nvPr/>
        </p:nvSpPr>
        <p:spPr>
          <a:xfrm>
            <a:off x="8059066" y="3005307"/>
            <a:ext cx="2169867" cy="2684648"/>
          </a:xfrm>
          <a:custGeom>
            <a:avLst/>
            <a:gdLst/>
            <a:ahLst/>
            <a:cxnLst/>
            <a:rect l="l" t="t" r="r" b="b"/>
            <a:pathLst>
              <a:path w="1097559" h="1368838">
                <a:moveTo>
                  <a:pt x="0" y="0"/>
                </a:moveTo>
                <a:lnTo>
                  <a:pt x="1097559" y="0"/>
                </a:lnTo>
                <a:lnTo>
                  <a:pt x="1097559" y="1368838"/>
                </a:lnTo>
                <a:lnTo>
                  <a:pt x="0" y="13688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4122C307-96C6-4F78-A262-33B238590FEE}"/>
              </a:ext>
            </a:extLst>
          </p:cNvPr>
          <p:cNvSpPr/>
          <p:nvPr/>
        </p:nvSpPr>
        <p:spPr>
          <a:xfrm>
            <a:off x="2755208" y="5464861"/>
            <a:ext cx="2249849" cy="2462214"/>
          </a:xfrm>
          <a:custGeom>
            <a:avLst/>
            <a:gdLst/>
            <a:ahLst/>
            <a:cxnLst/>
            <a:rect l="l" t="t" r="r" b="b"/>
            <a:pathLst>
              <a:path w="1661686" h="1842596">
                <a:moveTo>
                  <a:pt x="0" y="0"/>
                </a:moveTo>
                <a:lnTo>
                  <a:pt x="1661686" y="0"/>
                </a:lnTo>
                <a:lnTo>
                  <a:pt x="1661686" y="1842596"/>
                </a:lnTo>
                <a:lnTo>
                  <a:pt x="0" y="18425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DD78C28E-5172-440A-88DC-3FB4D3336EF9}"/>
              </a:ext>
            </a:extLst>
          </p:cNvPr>
          <p:cNvSpPr txBox="1">
            <a:spLocks/>
          </p:cNvSpPr>
          <p:nvPr/>
        </p:nvSpPr>
        <p:spPr>
          <a:xfrm>
            <a:off x="80772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8534400" y="3848100"/>
            <a:ext cx="15768684" cy="15768684"/>
          </a:xfrm>
          <a:custGeom>
            <a:avLst/>
            <a:gdLst/>
            <a:ahLst/>
            <a:cxnLst/>
            <a:rect l="l" t="t" r="r" b="b"/>
            <a:pathLst>
              <a:path w="15768684" h="15768684">
                <a:moveTo>
                  <a:pt x="0" y="0"/>
                </a:moveTo>
                <a:lnTo>
                  <a:pt x="15768684" y="0"/>
                </a:lnTo>
                <a:lnTo>
                  <a:pt x="15768684" y="15768684"/>
                </a:lnTo>
                <a:lnTo>
                  <a:pt x="0" y="15768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9144000" y="5082152"/>
            <a:ext cx="7315200" cy="3186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9144000" y="7381311"/>
            <a:ext cx="7315200" cy="4076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9144000" y="3150306"/>
            <a:ext cx="6940483" cy="1686823"/>
            <a:chOff x="0" y="-19049"/>
            <a:chExt cx="9253977" cy="224909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49"/>
              <a:ext cx="9253977" cy="854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5040"/>
                </a:lnSpc>
                <a:spcBef>
                  <a:spcPct val="0"/>
                </a:spcBef>
              </a:pPr>
              <a:r>
                <a:rPr lang="ru-RU" sz="4400" dirty="0">
                  <a:solidFill>
                    <a:srgbClr val="000000"/>
                  </a:solidFill>
                  <a:latin typeface="Gotham" panose="020B0604020202020204" charset="0"/>
                  <a:cs typeface="Gotham" panose="020B0604020202020204" charset="0"/>
                </a:rPr>
                <a:t>Исследование темы</a:t>
              </a:r>
              <a:endParaRPr lang="en-US" sz="4400" dirty="0">
                <a:solidFill>
                  <a:srgbClr val="000000"/>
                </a:solidFill>
                <a:latin typeface="Gotham" panose="020B0604020202020204" charset="0"/>
                <a:cs typeface="Gotham" panose="020B0604020202020204" charset="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209085"/>
              <a:ext cx="9253977" cy="10209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79"/>
                </a:lnSpc>
              </a:pPr>
              <a:r>
                <a:rPr lang="ru-RU" sz="2400" dirty="0">
                  <a:solidFill>
                    <a:srgbClr val="000000"/>
                  </a:solidFill>
                  <a:latin typeface="Gotham" pitchFamily="50" charset="0"/>
                  <a:cs typeface="Gotham" pitchFamily="50" charset="0"/>
                </a:rPr>
                <a:t>Архитектура</a:t>
              </a:r>
              <a:r>
                <a:rPr lang="en-US" sz="2400" dirty="0">
                  <a:solidFill>
                    <a:srgbClr val="000000"/>
                  </a:solidFill>
                  <a:latin typeface="Gotham" pitchFamily="50" charset="0"/>
                  <a:cs typeface="Gotham" pitchFamily="50" charset="0"/>
                </a:rPr>
                <a:t>, </a:t>
              </a:r>
              <a:r>
                <a:rPr lang="ru-RU" sz="2400" dirty="0">
                  <a:solidFill>
                    <a:srgbClr val="000000"/>
                  </a:solidFill>
                  <a:latin typeface="Gotham" pitchFamily="50" charset="0"/>
                  <a:cs typeface="Gotham" pitchFamily="50" charset="0"/>
                </a:rPr>
                <a:t>рынок, уязвимости </a:t>
              </a:r>
              <a:r>
                <a:rPr lang="en-US" sz="2400" dirty="0">
                  <a:solidFill>
                    <a:srgbClr val="000000"/>
                  </a:solidFill>
                  <a:latin typeface="Gotham" pitchFamily="50" charset="0"/>
                  <a:cs typeface="Gotham" pitchFamily="50" charset="0"/>
                </a:rPr>
                <a:t>IoT</a:t>
              </a:r>
              <a:r>
                <a:rPr lang="ru-RU" sz="2400" dirty="0">
                  <a:solidFill>
                    <a:srgbClr val="000000"/>
                  </a:solidFill>
                  <a:latin typeface="Gotham" pitchFamily="50" charset="0"/>
                  <a:cs typeface="Gotham" pitchFamily="50" charset="0"/>
                </a:rPr>
                <a:t>. Аналоги продукта</a:t>
              </a:r>
              <a:endParaRPr lang="en-US" sz="24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144000" y="1356981"/>
            <a:ext cx="8072975" cy="125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ru-RU" sz="9600" dirty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Задачи</a:t>
            </a:r>
            <a:endParaRPr lang="en-US" sz="8000" dirty="0">
              <a:solidFill>
                <a:srgbClr val="000000"/>
              </a:solidFill>
              <a:latin typeface="Gotham Medium" pitchFamily="50" charset="0"/>
              <a:cs typeface="Gotham Medium" pitchFamily="50" charset="0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9144000" y="5341968"/>
            <a:ext cx="7315200" cy="1695672"/>
            <a:chOff x="0" y="-19049"/>
            <a:chExt cx="9753600" cy="2260895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9049"/>
              <a:ext cx="9253977" cy="854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5040"/>
                </a:lnSpc>
                <a:spcBef>
                  <a:spcPct val="0"/>
                </a:spcBef>
              </a:pPr>
              <a:r>
                <a:rPr lang="ru-RU" sz="4400" dirty="0">
                  <a:solidFill>
                    <a:srgbClr val="000000"/>
                  </a:solidFill>
                  <a:latin typeface="Gotham" panose="020B0604020202020204" charset="0"/>
                  <a:cs typeface="Gotham" panose="020B0604020202020204" charset="0"/>
                </a:rPr>
                <a:t>Практическая часть</a:t>
              </a:r>
              <a:endParaRPr lang="en-US" sz="4400" dirty="0">
                <a:solidFill>
                  <a:srgbClr val="000000"/>
                </a:solidFill>
                <a:latin typeface="Gotham" panose="020B0604020202020204" charset="0"/>
                <a:cs typeface="Gotham" panose="020B0604020202020204" charset="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209085"/>
              <a:ext cx="9753600" cy="10327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079"/>
                </a:lnSpc>
              </a:pPr>
              <a:r>
                <a:rPr lang="ru-RU" sz="2400" dirty="0">
                  <a:solidFill>
                    <a:srgbClr val="000000"/>
                  </a:solidFill>
                  <a:latin typeface="Gotham" pitchFamily="50" charset="0"/>
                  <a:cs typeface="Gotham" pitchFamily="50" charset="0"/>
                </a:rPr>
                <a:t>Программная и физическая часть проекта, способы и цена внедрения, тестирование</a:t>
              </a:r>
              <a:endParaRPr lang="en-US" sz="24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0" y="7648990"/>
            <a:ext cx="7467600" cy="1690671"/>
            <a:chOff x="0" y="-19050"/>
            <a:chExt cx="9956800" cy="2254228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19050"/>
              <a:ext cx="9253977" cy="8698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5040"/>
                </a:lnSpc>
                <a:spcBef>
                  <a:spcPct val="0"/>
                </a:spcBef>
              </a:pPr>
              <a:r>
                <a:rPr lang="ru-RU" sz="4400" dirty="0">
                  <a:solidFill>
                    <a:srgbClr val="000000"/>
                  </a:solidFill>
                  <a:latin typeface="Gotham" panose="020B0604020202020204" charset="0"/>
                  <a:cs typeface="Gotham" panose="020B0604020202020204" charset="0"/>
                </a:rPr>
                <a:t>Подведение итогов</a:t>
              </a:r>
              <a:endParaRPr lang="en-US" sz="4400" dirty="0">
                <a:solidFill>
                  <a:srgbClr val="000000"/>
                </a:solidFill>
                <a:latin typeface="Gotham" panose="020B0604020202020204" charset="0"/>
                <a:cs typeface="Gotham" panose="020B0604020202020204" charset="0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209085"/>
              <a:ext cx="9956800" cy="10260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079"/>
                </a:lnSpc>
              </a:pPr>
              <a:r>
                <a:rPr lang="ru-RU" sz="2400" dirty="0">
                  <a:solidFill>
                    <a:srgbClr val="000000"/>
                  </a:solidFill>
                  <a:latin typeface="Gotham" pitchFamily="50" charset="0"/>
                  <a:cs typeface="Gotham" pitchFamily="50" charset="0"/>
                </a:rPr>
                <a:t>Анализ результатов тестирования, потенциал применения, возможности для развития</a:t>
              </a:r>
              <a:endParaRPr lang="en-US" sz="24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endParaRPr>
            </a:p>
          </p:txBody>
        </p:sp>
      </p:grpSp>
      <p:sp>
        <p:nvSpPr>
          <p:cNvPr id="22" name="TextBox 13">
            <a:extLst>
              <a:ext uri="{FF2B5EF4-FFF2-40B4-BE49-F238E27FC236}">
                <a16:creationId xmlns:a16="http://schemas.microsoft.com/office/drawing/2014/main" id="{D533E0F4-2C9F-454A-901E-AFC6D95A94F4}"/>
              </a:ext>
            </a:extLst>
          </p:cNvPr>
          <p:cNvSpPr txBox="1"/>
          <p:nvPr/>
        </p:nvSpPr>
        <p:spPr>
          <a:xfrm>
            <a:off x="1071025" y="1142376"/>
            <a:ext cx="8072975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sz="9600" dirty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Цель –</a:t>
            </a:r>
            <a:endParaRPr lang="en-US" sz="4400" dirty="0">
              <a:solidFill>
                <a:srgbClr val="000000"/>
              </a:solidFill>
              <a:latin typeface="Gotham Medium" pitchFamily="50" charset="0"/>
              <a:cs typeface="Gotham Medium" pitchFamily="50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577659-DDE9-4F82-9F43-87116C7FD587}"/>
              </a:ext>
            </a:extLst>
          </p:cNvPr>
          <p:cNvSpPr txBox="1"/>
          <p:nvPr/>
        </p:nvSpPr>
        <p:spPr>
          <a:xfrm>
            <a:off x="990600" y="2799905"/>
            <a:ext cx="685377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создание комплекса технологий для обнаружения и устранения выявленных уязвимостей устройств Интернета вещей с применением искусственного интеллекта</a:t>
            </a:r>
            <a:endParaRPr lang="ru-RU" sz="4000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ED767BE2-0009-42FB-97A8-9E6EC6D65018}"/>
              </a:ext>
            </a:extLst>
          </p:cNvPr>
          <p:cNvSpPr txBox="1">
            <a:spLocks/>
          </p:cNvSpPr>
          <p:nvPr/>
        </p:nvSpPr>
        <p:spPr>
          <a:xfrm>
            <a:off x="80772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5553" y="-10625184"/>
            <a:ext cx="15768684" cy="15768684"/>
          </a:xfrm>
          <a:custGeom>
            <a:avLst/>
            <a:gdLst/>
            <a:ahLst/>
            <a:cxnLst/>
            <a:rect l="l" t="t" r="r" b="b"/>
            <a:pathLst>
              <a:path w="15768684" h="15768684">
                <a:moveTo>
                  <a:pt x="0" y="0"/>
                </a:moveTo>
                <a:lnTo>
                  <a:pt x="15768684" y="0"/>
                </a:lnTo>
                <a:lnTo>
                  <a:pt x="15768684" y="15768684"/>
                </a:lnTo>
                <a:lnTo>
                  <a:pt x="0" y="157686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153238" y="687769"/>
            <a:ext cx="7981523" cy="125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ru-RU" sz="8800" dirty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Объем рынка</a:t>
            </a:r>
            <a:endParaRPr lang="en-US" sz="8800" dirty="0">
              <a:solidFill>
                <a:srgbClr val="000000"/>
              </a:solidFill>
              <a:latin typeface="Gotham Medium" pitchFamily="50" charset="0"/>
              <a:cs typeface="Gotham Medium" pitchFamily="50" charset="0"/>
            </a:endParaRPr>
          </a:p>
        </p:txBody>
      </p:sp>
      <p:grpSp>
        <p:nvGrpSpPr>
          <p:cNvPr id="22" name="Group 5">
            <a:extLst>
              <a:ext uri="{FF2B5EF4-FFF2-40B4-BE49-F238E27FC236}">
                <a16:creationId xmlns:a16="http://schemas.microsoft.com/office/drawing/2014/main" id="{E3A37226-F813-4002-99D0-412F704F3F10}"/>
              </a:ext>
            </a:extLst>
          </p:cNvPr>
          <p:cNvGrpSpPr/>
          <p:nvPr/>
        </p:nvGrpSpPr>
        <p:grpSpPr>
          <a:xfrm>
            <a:off x="882657" y="7620010"/>
            <a:ext cx="4411774" cy="1316430"/>
            <a:chOff x="0" y="-19050"/>
            <a:chExt cx="5882365" cy="1185165"/>
          </a:xfrm>
        </p:grpSpPr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C177B1DF-29D1-43F8-9F59-D9B1C65D7043}"/>
                </a:ext>
              </a:extLst>
            </p:cNvPr>
            <p:cNvSpPr txBox="1"/>
            <p:nvPr/>
          </p:nvSpPr>
          <p:spPr>
            <a:xfrm>
              <a:off x="0" y="-19050"/>
              <a:ext cx="5858166" cy="775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spcBef>
                  <a:spcPct val="0"/>
                </a:spcBef>
              </a:pPr>
              <a:r>
                <a:rPr lang="ru-RU" sz="2800" b="1" dirty="0">
                  <a:solidFill>
                    <a:srgbClr val="000000"/>
                  </a:solidFill>
                  <a:latin typeface="Gotham" pitchFamily="50" charset="0"/>
                  <a:cs typeface="Gotham" pitchFamily="50" charset="0"/>
                </a:rPr>
                <a:t>Структура мирового рынка</a:t>
              </a:r>
              <a:endParaRPr lang="en-US" sz="2800" b="1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endParaRPr>
            </a:p>
          </p:txBody>
        </p:sp>
        <p:sp>
          <p:nvSpPr>
            <p:cNvPr id="24" name="TextBox 7">
              <a:extLst>
                <a:ext uri="{FF2B5EF4-FFF2-40B4-BE49-F238E27FC236}">
                  <a16:creationId xmlns:a16="http://schemas.microsoft.com/office/drawing/2014/main" id="{BA0442D1-E0AA-427F-BBD6-E22D25AA2C3B}"/>
                </a:ext>
              </a:extLst>
            </p:cNvPr>
            <p:cNvSpPr txBox="1"/>
            <p:nvPr/>
          </p:nvSpPr>
          <p:spPr>
            <a:xfrm>
              <a:off x="24199" y="836728"/>
              <a:ext cx="5858166" cy="329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r>
                <a:rPr lang="ru-RU" sz="2199" dirty="0">
                  <a:solidFill>
                    <a:srgbClr val="000000"/>
                  </a:solidFill>
                  <a:latin typeface="Gotham" pitchFamily="50" charset="0"/>
                  <a:cs typeface="Gotham" pitchFamily="50" charset="0"/>
                </a:rPr>
                <a:t>по данным </a:t>
              </a:r>
              <a:r>
                <a:rPr lang="en-US" sz="2199" dirty="0" err="1">
                  <a:solidFill>
                    <a:srgbClr val="000000"/>
                  </a:solidFill>
                  <a:latin typeface="Gotham" pitchFamily="50" charset="0"/>
                  <a:cs typeface="Gotham" pitchFamily="50" charset="0"/>
                </a:rPr>
                <a:t>TAdviser</a:t>
              </a:r>
              <a:endParaRPr lang="en-US" sz="2199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endParaRPr>
            </a:p>
          </p:txBody>
        </p:sp>
      </p:grpSp>
      <p:sp>
        <p:nvSpPr>
          <p:cNvPr id="26" name="AutoShape 18">
            <a:extLst>
              <a:ext uri="{FF2B5EF4-FFF2-40B4-BE49-F238E27FC236}">
                <a16:creationId xmlns:a16="http://schemas.microsoft.com/office/drawing/2014/main" id="{3C31D394-E6A2-4336-AE44-2375E4491182}"/>
              </a:ext>
            </a:extLst>
          </p:cNvPr>
          <p:cNvSpPr/>
          <p:nvPr/>
        </p:nvSpPr>
        <p:spPr>
          <a:xfrm rot="3933" flipV="1">
            <a:off x="844261" y="7543356"/>
            <a:ext cx="4506714" cy="5157"/>
          </a:xfrm>
          <a:prstGeom prst="line">
            <a:avLst/>
          </a:prstGeom>
          <a:ln w="1905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 dirty="0"/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79821474-6F36-4A44-ACD1-BE55603A75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8310046"/>
              </p:ext>
            </p:extLst>
          </p:nvPr>
        </p:nvGraphicFramePr>
        <p:xfrm>
          <a:off x="6378861" y="2552700"/>
          <a:ext cx="11034047" cy="6400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14F08D8C-EF17-4FD3-B825-5604C09078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568462"/>
              </p:ext>
            </p:extLst>
          </p:nvPr>
        </p:nvGraphicFramePr>
        <p:xfrm>
          <a:off x="457200" y="2409569"/>
          <a:ext cx="5359455" cy="4969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FBAF6BBD-F747-4ECC-AF62-B4E82D787F64}"/>
              </a:ext>
            </a:extLst>
          </p:cNvPr>
          <p:cNvSpPr txBox="1">
            <a:spLocks/>
          </p:cNvSpPr>
          <p:nvPr/>
        </p:nvSpPr>
        <p:spPr>
          <a:xfrm>
            <a:off x="80772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248604"/>
              </p:ext>
            </p:extLst>
          </p:nvPr>
        </p:nvGraphicFramePr>
        <p:xfrm>
          <a:off x="216804" y="1497709"/>
          <a:ext cx="17907000" cy="7989191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1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295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 err="1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SecPoint</a:t>
                      </a:r>
                      <a:r>
                        <a:rPr lang="en-US" sz="20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 </a:t>
                      </a:r>
                      <a:r>
                        <a:rPr lang="en-US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Penetrator</a:t>
                      </a:r>
                      <a:endParaRPr lang="ru-RU" sz="2000" b="0" dirty="0">
                        <a:effectLst/>
                        <a:latin typeface="Gotham" pitchFamily="50" charset="0"/>
                        <a:ea typeface="Calibri" panose="020F0502020204030204" pitchFamily="34" charset="0"/>
                        <a:cs typeface="Gotham" pitchFamily="50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ПО с ИИ + сетевой коммутатор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 err="1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IIoT</a:t>
                      </a: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, умный дом (в некоторых случаях)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$219 или</a:t>
                      </a:r>
                      <a:r>
                        <a:rPr lang="en-US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  </a:t>
                      </a: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 21.900</a:t>
                      </a:r>
                      <a:r>
                        <a:rPr lang="en-US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 </a:t>
                      </a:r>
                      <a:r>
                        <a:rPr lang="ru-RU" sz="2800" b="0" dirty="0">
                          <a:effectLst/>
                          <a:latin typeface="+mn-lt"/>
                          <a:ea typeface="Calibri" panose="020F0502020204030204" pitchFamily="34" charset="0"/>
                          <a:cs typeface="Gotham" pitchFamily="50" charset="0"/>
                        </a:rPr>
                        <a:t>₽</a:t>
                      </a:r>
                      <a:endParaRPr lang="ru-RU" sz="2400" b="0" dirty="0">
                        <a:effectLst/>
                        <a:latin typeface="+mn-lt"/>
                        <a:ea typeface="Calibri" panose="020F0502020204030204" pitchFamily="34" charset="0"/>
                        <a:cs typeface="Gotham" pitchFamily="50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Дания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38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Kaspersky IoT Secure Gateway (KISG)</a:t>
                      </a:r>
                      <a:endParaRPr lang="ru-RU" sz="2400" b="0" dirty="0">
                        <a:effectLst/>
                        <a:latin typeface="Gotham" pitchFamily="50" charset="0"/>
                        <a:ea typeface="Calibri" panose="020F0502020204030204" pitchFamily="34" charset="0"/>
                        <a:cs typeface="Gotham" pitchFamily="50" charset="0"/>
                      </a:endParaRPr>
                    </a:p>
                  </a:txBody>
                  <a:tcPr marL="68580" marR="6858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ПО + Siemens SIMATIC IOT2040)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 err="1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IIoT</a:t>
                      </a: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, умный город, транспорт и навигация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По запросу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Россия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5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Symantec ICSP USB</a:t>
                      </a:r>
                      <a:endParaRPr lang="ru-RU" sz="2400" b="0" dirty="0">
                        <a:effectLst/>
                        <a:latin typeface="Gotham" pitchFamily="50" charset="0"/>
                        <a:ea typeface="Calibri" panose="020F0502020204030204" pitchFamily="34" charset="0"/>
                        <a:cs typeface="Gotham" pitchFamily="50" charset="0"/>
                      </a:endParaRPr>
                    </a:p>
                  </a:txBody>
                  <a:tcPr marL="68580" marR="6858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Сканирующая станция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800" b="0" dirty="0" err="1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IIoT</a:t>
                      </a:r>
                      <a:endParaRPr lang="ru-RU" sz="2800" b="0" dirty="0">
                        <a:effectLst/>
                        <a:latin typeface="Gotham" pitchFamily="50" charset="0"/>
                        <a:ea typeface="Calibri" panose="020F0502020204030204" pitchFamily="34" charset="0"/>
                        <a:cs typeface="Gotham" pitchFamily="50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$2.200 или 220.000</a:t>
                      </a:r>
                      <a:r>
                        <a:rPr lang="en-US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 </a:t>
                      </a:r>
                      <a:r>
                        <a:rPr lang="ru-RU" sz="2800" b="0" dirty="0">
                          <a:effectLst/>
                          <a:latin typeface="+mn-lt"/>
                          <a:ea typeface="Calibri" panose="020F0502020204030204" pitchFamily="34" charset="0"/>
                          <a:cs typeface="Gotham" pitchFamily="50" charset="0"/>
                        </a:rPr>
                        <a:t>₽</a:t>
                      </a:r>
                      <a:endParaRPr lang="ru-RU" sz="2400" b="0" dirty="0">
                        <a:effectLst/>
                        <a:latin typeface="Gotham" pitchFamily="50" charset="0"/>
                        <a:ea typeface="Calibri" panose="020F0502020204030204" pitchFamily="34" charset="0"/>
                        <a:cs typeface="Gotham" pitchFamily="50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США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197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БДУ ФСТЭК</a:t>
                      </a:r>
                    </a:p>
                  </a:txBody>
                  <a:tcPr marL="68580" marR="6858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A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База данных уязвимостей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A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800" b="0" dirty="0" err="1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IIoT</a:t>
                      </a:r>
                      <a:endParaRPr lang="ru-RU" sz="2800" b="0" dirty="0">
                        <a:effectLst/>
                        <a:latin typeface="Gotham" pitchFamily="50" charset="0"/>
                        <a:ea typeface="Calibri" panose="020F0502020204030204" pitchFamily="34" charset="0"/>
                        <a:cs typeface="Gotham" pitchFamily="50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A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В открытом доступе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A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Россия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A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32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3200" b="0" dirty="0" err="1">
                          <a:solidFill>
                            <a:schemeClr val="accent1"/>
                          </a:solidFill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RegulIoT</a:t>
                      </a:r>
                      <a:endParaRPr lang="ru-RU" sz="3200" b="0" dirty="0">
                        <a:solidFill>
                          <a:schemeClr val="accent1"/>
                        </a:solidFill>
                        <a:effectLst/>
                        <a:latin typeface="Gotham" pitchFamily="50" charset="0"/>
                        <a:ea typeface="Calibri" panose="020F0502020204030204" pitchFamily="34" charset="0"/>
                        <a:cs typeface="Gotham" pitchFamily="50" charset="0"/>
                      </a:endParaRPr>
                    </a:p>
                  </a:txBody>
                  <a:tcPr marL="68580" marR="6858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A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ПО с применением ИИ + небольшое устройство с сенсорным экраном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A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dirty="0" err="1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IIoT</a:t>
                      </a: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, умный дом, здравоохранение, беспилотные автомобили, транспорт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A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от </a:t>
                      </a:r>
                      <a:r>
                        <a:rPr lang="en-US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1</a:t>
                      </a: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0.000</a:t>
                      </a:r>
                      <a:r>
                        <a:rPr lang="en-US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 </a:t>
                      </a:r>
                      <a:r>
                        <a:rPr lang="ru-RU" sz="2800" b="0" dirty="0">
                          <a:effectLst/>
                          <a:latin typeface="+mn-lt"/>
                          <a:ea typeface="Calibri" panose="020F0502020204030204" pitchFamily="34" charset="0"/>
                          <a:cs typeface="Gotham" pitchFamily="50" charset="0"/>
                        </a:rPr>
                        <a:t>₽</a:t>
                      </a:r>
                      <a:endParaRPr lang="ru-RU" sz="2400" b="0" dirty="0">
                        <a:effectLst/>
                        <a:latin typeface="Gotham" pitchFamily="50" charset="0"/>
                        <a:ea typeface="Calibri" panose="020F0502020204030204" pitchFamily="34" charset="0"/>
                        <a:cs typeface="Gotham" pitchFamily="50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A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2400" b="0" dirty="0">
                          <a:effectLst/>
                          <a:latin typeface="Gotham" pitchFamily="50" charset="0"/>
                          <a:ea typeface="Calibri" panose="020F0502020204030204" pitchFamily="34" charset="0"/>
                          <a:cs typeface="Gotham" pitchFamily="50" charset="0"/>
                        </a:rPr>
                        <a:t>Россия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A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2755261" y="142523"/>
            <a:ext cx="12777478" cy="1144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ru-RU" sz="7200" dirty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Аналоги и прототипы</a:t>
            </a:r>
            <a:endParaRPr lang="en-US" sz="7200" dirty="0">
              <a:solidFill>
                <a:srgbClr val="000000"/>
              </a:solidFill>
              <a:latin typeface="Gotham Medium" pitchFamily="50" charset="0"/>
              <a:cs typeface="Gotham Medium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8666D5-EB7B-4ED1-8673-F4E0A86CDDB5}"/>
              </a:ext>
            </a:extLst>
          </p:cNvPr>
          <p:cNvSpPr/>
          <p:nvPr/>
        </p:nvSpPr>
        <p:spPr>
          <a:xfrm>
            <a:off x="216804" y="7277100"/>
            <a:ext cx="17907000" cy="2202075"/>
          </a:xfrm>
          <a:prstGeom prst="rect">
            <a:avLst/>
          </a:prstGeom>
          <a:noFill/>
          <a:ln w="4127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18924178-C904-4EBA-AFD9-09C7CAB96CB5}"/>
              </a:ext>
            </a:extLst>
          </p:cNvPr>
          <p:cNvSpPr txBox="1">
            <a:spLocks/>
          </p:cNvSpPr>
          <p:nvPr/>
        </p:nvSpPr>
        <p:spPr>
          <a:xfrm>
            <a:off x="80772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10518460">
            <a:off x="-8254705" y="-9533215"/>
            <a:ext cx="15768684" cy="15768684"/>
          </a:xfrm>
          <a:custGeom>
            <a:avLst/>
            <a:gdLst/>
            <a:ahLst/>
            <a:cxnLst/>
            <a:rect l="l" t="t" r="r" b="b"/>
            <a:pathLst>
              <a:path w="15768684" h="15768684">
                <a:moveTo>
                  <a:pt x="0" y="0"/>
                </a:moveTo>
                <a:lnTo>
                  <a:pt x="15768684" y="0"/>
                </a:lnTo>
                <a:lnTo>
                  <a:pt x="15768684" y="15768684"/>
                </a:lnTo>
                <a:lnTo>
                  <a:pt x="0" y="15768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3" name="TextBox 13"/>
          <p:cNvSpPr txBox="1"/>
          <p:nvPr/>
        </p:nvSpPr>
        <p:spPr>
          <a:xfrm>
            <a:off x="9632731" y="1182711"/>
            <a:ext cx="7543800" cy="1071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ru-RU" sz="48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Требования к решению</a:t>
            </a:r>
            <a:endParaRPr lang="en-US" sz="4000" dirty="0">
              <a:solidFill>
                <a:srgbClr val="000000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6DD1CC79-031E-4480-A6AF-8951176EFB7E}"/>
              </a:ext>
            </a:extLst>
          </p:cNvPr>
          <p:cNvSpPr txBox="1"/>
          <p:nvPr/>
        </p:nvSpPr>
        <p:spPr>
          <a:xfrm>
            <a:off x="917028" y="813065"/>
            <a:ext cx="8226972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ru-RU" sz="8800" dirty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Техническое задание</a:t>
            </a:r>
            <a:endParaRPr lang="en-US" sz="8800" dirty="0">
              <a:solidFill>
                <a:srgbClr val="000000"/>
              </a:solidFill>
              <a:latin typeface="Gotham Medium" pitchFamily="50" charset="0"/>
              <a:cs typeface="Gotham Medium" pitchFamily="50" charset="0"/>
            </a:endParaRPr>
          </a:p>
        </p:txBody>
      </p:sp>
      <p:grpSp>
        <p:nvGrpSpPr>
          <p:cNvPr id="26" name="Group 4">
            <a:extLst>
              <a:ext uri="{FF2B5EF4-FFF2-40B4-BE49-F238E27FC236}">
                <a16:creationId xmlns:a16="http://schemas.microsoft.com/office/drawing/2014/main" id="{BB1C4DCA-09AA-4FA3-B5E6-6730C9FAFBD5}"/>
              </a:ext>
            </a:extLst>
          </p:cNvPr>
          <p:cNvGrpSpPr/>
          <p:nvPr/>
        </p:nvGrpSpPr>
        <p:grpSpPr>
          <a:xfrm>
            <a:off x="9630103" y="7234348"/>
            <a:ext cx="7937759" cy="492917"/>
            <a:chOff x="0" y="0"/>
            <a:chExt cx="10583678" cy="657222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A3408952-173E-493A-B0C8-0FEE6578CF93}"/>
                </a:ext>
              </a:extLst>
            </p:cNvPr>
            <p:cNvSpPr/>
            <p:nvPr/>
          </p:nvSpPr>
          <p:spPr>
            <a:xfrm>
              <a:off x="0" y="0"/>
              <a:ext cx="657222" cy="657222"/>
            </a:xfrm>
            <a:custGeom>
              <a:avLst/>
              <a:gdLst/>
              <a:ahLst/>
              <a:cxnLst/>
              <a:rect l="l" t="t" r="r" b="b"/>
              <a:pathLst>
                <a:path w="657222" h="657222">
                  <a:moveTo>
                    <a:pt x="0" y="0"/>
                  </a:moveTo>
                  <a:lnTo>
                    <a:pt x="657222" y="0"/>
                  </a:lnTo>
                  <a:lnTo>
                    <a:pt x="657222" y="657222"/>
                  </a:lnTo>
                  <a:lnTo>
                    <a:pt x="0" y="65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6">
              <a:extLst>
                <a:ext uri="{FF2B5EF4-FFF2-40B4-BE49-F238E27FC236}">
                  <a16:creationId xmlns:a16="http://schemas.microsoft.com/office/drawing/2014/main" id="{23A38292-E596-4B27-A165-B67CF37E9DAE}"/>
                </a:ext>
              </a:extLst>
            </p:cNvPr>
            <p:cNvSpPr txBox="1"/>
            <p:nvPr/>
          </p:nvSpPr>
          <p:spPr>
            <a:xfrm>
              <a:off x="1340495" y="26775"/>
              <a:ext cx="9243183" cy="534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79"/>
                </a:lnSpc>
              </a:pPr>
              <a:r>
                <a:rPr lang="ru-RU" sz="2400" dirty="0">
                  <a:solidFill>
                    <a:srgbClr val="000000"/>
                  </a:solidFill>
                  <a:latin typeface="Gotham" pitchFamily="50" charset="0"/>
                  <a:cs typeface="Gotham" pitchFamily="50" charset="0"/>
                </a:rPr>
                <a:t>Соблюдение Федеральных Законов РФ</a:t>
              </a:r>
              <a:endParaRPr lang="en-US" sz="24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endParaRPr>
            </a:p>
          </p:txBody>
        </p:sp>
      </p:grpSp>
      <p:grpSp>
        <p:nvGrpSpPr>
          <p:cNvPr id="32" name="Group 4">
            <a:extLst>
              <a:ext uri="{FF2B5EF4-FFF2-40B4-BE49-F238E27FC236}">
                <a16:creationId xmlns:a16="http://schemas.microsoft.com/office/drawing/2014/main" id="{08947950-A3EE-42D1-9C27-ACC360456C96}"/>
              </a:ext>
            </a:extLst>
          </p:cNvPr>
          <p:cNvGrpSpPr/>
          <p:nvPr/>
        </p:nvGrpSpPr>
        <p:grpSpPr>
          <a:xfrm>
            <a:off x="9630103" y="5690505"/>
            <a:ext cx="7935131" cy="1272913"/>
            <a:chOff x="0" y="-404369"/>
            <a:chExt cx="10580174" cy="1697217"/>
          </a:xfrm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99F116AE-4E9B-46BD-AB00-5FCB8DBC4C3E}"/>
                </a:ext>
              </a:extLst>
            </p:cNvPr>
            <p:cNvSpPr/>
            <p:nvPr/>
          </p:nvSpPr>
          <p:spPr>
            <a:xfrm>
              <a:off x="0" y="0"/>
              <a:ext cx="657222" cy="657222"/>
            </a:xfrm>
            <a:custGeom>
              <a:avLst/>
              <a:gdLst/>
              <a:ahLst/>
              <a:cxnLst/>
              <a:rect l="l" t="t" r="r" b="b"/>
              <a:pathLst>
                <a:path w="657222" h="657222">
                  <a:moveTo>
                    <a:pt x="0" y="0"/>
                  </a:moveTo>
                  <a:lnTo>
                    <a:pt x="657222" y="0"/>
                  </a:lnTo>
                  <a:lnTo>
                    <a:pt x="657222" y="657222"/>
                  </a:lnTo>
                  <a:lnTo>
                    <a:pt x="0" y="65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TextBox 6">
              <a:extLst>
                <a:ext uri="{FF2B5EF4-FFF2-40B4-BE49-F238E27FC236}">
                  <a16:creationId xmlns:a16="http://schemas.microsoft.com/office/drawing/2014/main" id="{7DE24629-A362-40A2-B821-78A613775968}"/>
                </a:ext>
              </a:extLst>
            </p:cNvPr>
            <p:cNvSpPr txBox="1"/>
            <p:nvPr/>
          </p:nvSpPr>
          <p:spPr>
            <a:xfrm>
              <a:off x="1336991" y="-404369"/>
              <a:ext cx="9243183" cy="1697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79"/>
                </a:lnSpc>
              </a:pPr>
              <a:r>
                <a:rPr lang="ru-RU" sz="2400" dirty="0">
                  <a:effectLst/>
                  <a:latin typeface="Gotham" pitchFamily="50" charset="0"/>
                  <a:ea typeface="Calibri" panose="020F0502020204030204" pitchFamily="34" charset="0"/>
                  <a:cs typeface="Gotham" pitchFamily="50" charset="0"/>
                </a:rPr>
                <a:t>Применение ИИ для анализа работы устройства и повышения качества его работы</a:t>
              </a:r>
              <a:endPara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endParaRPr>
            </a:p>
          </p:txBody>
        </p:sp>
      </p:grpSp>
      <p:grpSp>
        <p:nvGrpSpPr>
          <p:cNvPr id="35" name="Group 7">
            <a:extLst>
              <a:ext uri="{FF2B5EF4-FFF2-40B4-BE49-F238E27FC236}">
                <a16:creationId xmlns:a16="http://schemas.microsoft.com/office/drawing/2014/main" id="{7328745C-33BA-4464-AEE7-17892E1EFBB9}"/>
              </a:ext>
            </a:extLst>
          </p:cNvPr>
          <p:cNvGrpSpPr/>
          <p:nvPr/>
        </p:nvGrpSpPr>
        <p:grpSpPr>
          <a:xfrm>
            <a:off x="9645869" y="2491109"/>
            <a:ext cx="7935131" cy="836896"/>
            <a:chOff x="0" y="-122583"/>
            <a:chExt cx="10580174" cy="1115860"/>
          </a:xfrm>
        </p:grpSpPr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43BD0ADC-9E0F-4056-881C-804DCD4EF43A}"/>
                </a:ext>
              </a:extLst>
            </p:cNvPr>
            <p:cNvSpPr/>
            <p:nvPr/>
          </p:nvSpPr>
          <p:spPr>
            <a:xfrm>
              <a:off x="0" y="0"/>
              <a:ext cx="657222" cy="657222"/>
            </a:xfrm>
            <a:custGeom>
              <a:avLst/>
              <a:gdLst/>
              <a:ahLst/>
              <a:cxnLst/>
              <a:rect l="l" t="t" r="r" b="b"/>
              <a:pathLst>
                <a:path w="657222" h="657222">
                  <a:moveTo>
                    <a:pt x="0" y="0"/>
                  </a:moveTo>
                  <a:lnTo>
                    <a:pt x="657222" y="0"/>
                  </a:lnTo>
                  <a:lnTo>
                    <a:pt x="657222" y="657222"/>
                  </a:lnTo>
                  <a:lnTo>
                    <a:pt x="0" y="65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TextBox 9">
              <a:extLst>
                <a:ext uri="{FF2B5EF4-FFF2-40B4-BE49-F238E27FC236}">
                  <a16:creationId xmlns:a16="http://schemas.microsoft.com/office/drawing/2014/main" id="{642FE21F-2F56-4DFB-ACDD-0DD5AE8FE830}"/>
                </a:ext>
              </a:extLst>
            </p:cNvPr>
            <p:cNvSpPr txBox="1"/>
            <p:nvPr/>
          </p:nvSpPr>
          <p:spPr>
            <a:xfrm>
              <a:off x="1336991" y="-122583"/>
              <a:ext cx="9243183" cy="1115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79"/>
                </a:lnSpc>
              </a:pPr>
              <a:r>
                <a:rPr lang="ru-RU" sz="2400" dirty="0">
                  <a:effectLst/>
                  <a:latin typeface="Gotham" pitchFamily="50" charset="0"/>
                  <a:ea typeface="Calibri" panose="020F0502020204030204" pitchFamily="34" charset="0"/>
                  <a:cs typeface="Gotham" pitchFamily="50" charset="0"/>
                </a:rPr>
                <a:t>Соблюдение архитектуры Интернета вещей</a:t>
              </a:r>
              <a:endPara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endParaRPr>
            </a:p>
          </p:txBody>
        </p:sp>
      </p:grpSp>
      <p:grpSp>
        <p:nvGrpSpPr>
          <p:cNvPr id="38" name="Group 4">
            <a:extLst>
              <a:ext uri="{FF2B5EF4-FFF2-40B4-BE49-F238E27FC236}">
                <a16:creationId xmlns:a16="http://schemas.microsoft.com/office/drawing/2014/main" id="{FD003560-3682-4CF9-B2CA-3FFEF886D0A5}"/>
              </a:ext>
            </a:extLst>
          </p:cNvPr>
          <p:cNvGrpSpPr/>
          <p:nvPr/>
        </p:nvGrpSpPr>
        <p:grpSpPr>
          <a:xfrm>
            <a:off x="9634823" y="3519759"/>
            <a:ext cx="7925156" cy="836896"/>
            <a:chOff x="16804" y="26775"/>
            <a:chExt cx="10566874" cy="1115859"/>
          </a:xfrm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DFCE7EFF-5B05-480B-A32F-942449279E66}"/>
                </a:ext>
              </a:extLst>
            </p:cNvPr>
            <p:cNvSpPr/>
            <p:nvPr/>
          </p:nvSpPr>
          <p:spPr>
            <a:xfrm>
              <a:off x="16804" y="296809"/>
              <a:ext cx="657223" cy="657222"/>
            </a:xfrm>
            <a:custGeom>
              <a:avLst/>
              <a:gdLst/>
              <a:ahLst/>
              <a:cxnLst/>
              <a:rect l="l" t="t" r="r" b="b"/>
              <a:pathLst>
                <a:path w="657222" h="657222">
                  <a:moveTo>
                    <a:pt x="0" y="0"/>
                  </a:moveTo>
                  <a:lnTo>
                    <a:pt x="657222" y="0"/>
                  </a:lnTo>
                  <a:lnTo>
                    <a:pt x="657222" y="657222"/>
                  </a:lnTo>
                  <a:lnTo>
                    <a:pt x="0" y="65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TextBox 6">
              <a:extLst>
                <a:ext uri="{FF2B5EF4-FFF2-40B4-BE49-F238E27FC236}">
                  <a16:creationId xmlns:a16="http://schemas.microsoft.com/office/drawing/2014/main" id="{4A8EAFF8-35CF-4B32-AC69-42C4BA359F75}"/>
                </a:ext>
              </a:extLst>
            </p:cNvPr>
            <p:cNvSpPr txBox="1"/>
            <p:nvPr/>
          </p:nvSpPr>
          <p:spPr>
            <a:xfrm>
              <a:off x="1340495" y="26775"/>
              <a:ext cx="9243183" cy="1115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79"/>
                </a:lnSpc>
              </a:pPr>
              <a:r>
                <a:rPr lang="ru-RU" sz="2400" dirty="0">
                  <a:effectLst/>
                  <a:latin typeface="Gotham" pitchFamily="50" charset="0"/>
                  <a:ea typeface="Calibri" panose="020F0502020204030204" pitchFamily="34" charset="0"/>
                  <a:cs typeface="Gotham" pitchFamily="50" charset="0"/>
                </a:rPr>
                <a:t>Возможность внедрения в производство и рынок Интернета вещей</a:t>
              </a:r>
              <a:endPara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endParaRPr>
            </a:p>
          </p:txBody>
        </p:sp>
      </p:grpSp>
      <p:grpSp>
        <p:nvGrpSpPr>
          <p:cNvPr id="41" name="Group 7">
            <a:extLst>
              <a:ext uri="{FF2B5EF4-FFF2-40B4-BE49-F238E27FC236}">
                <a16:creationId xmlns:a16="http://schemas.microsoft.com/office/drawing/2014/main" id="{B220ADFA-590A-40D0-ABF5-C86E952AE041}"/>
              </a:ext>
            </a:extLst>
          </p:cNvPr>
          <p:cNvGrpSpPr/>
          <p:nvPr/>
        </p:nvGrpSpPr>
        <p:grpSpPr>
          <a:xfrm>
            <a:off x="9630103" y="4640678"/>
            <a:ext cx="7929876" cy="836896"/>
            <a:chOff x="7007" y="-101145"/>
            <a:chExt cx="10573167" cy="1115861"/>
          </a:xfrm>
        </p:grpSpPr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B511F191-E5A6-4678-A2EA-5209AB7C118B}"/>
                </a:ext>
              </a:extLst>
            </p:cNvPr>
            <p:cNvSpPr/>
            <p:nvPr/>
          </p:nvSpPr>
          <p:spPr>
            <a:xfrm>
              <a:off x="7007" y="145157"/>
              <a:ext cx="657223" cy="657223"/>
            </a:xfrm>
            <a:custGeom>
              <a:avLst/>
              <a:gdLst/>
              <a:ahLst/>
              <a:cxnLst/>
              <a:rect l="l" t="t" r="r" b="b"/>
              <a:pathLst>
                <a:path w="657222" h="657222">
                  <a:moveTo>
                    <a:pt x="0" y="0"/>
                  </a:moveTo>
                  <a:lnTo>
                    <a:pt x="657222" y="0"/>
                  </a:lnTo>
                  <a:lnTo>
                    <a:pt x="657222" y="657222"/>
                  </a:lnTo>
                  <a:lnTo>
                    <a:pt x="0" y="65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TextBox 9">
              <a:extLst>
                <a:ext uri="{FF2B5EF4-FFF2-40B4-BE49-F238E27FC236}">
                  <a16:creationId xmlns:a16="http://schemas.microsoft.com/office/drawing/2014/main" id="{AB15E50E-A739-438D-8EDA-148FCE62F86B}"/>
                </a:ext>
              </a:extLst>
            </p:cNvPr>
            <p:cNvSpPr txBox="1"/>
            <p:nvPr/>
          </p:nvSpPr>
          <p:spPr>
            <a:xfrm>
              <a:off x="1336991" y="-101145"/>
              <a:ext cx="9243183" cy="11158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79"/>
                </a:lnSpc>
              </a:pPr>
              <a:r>
                <a:rPr lang="ru-RU" sz="2400" dirty="0">
                  <a:effectLst/>
                  <a:latin typeface="Gotham" pitchFamily="50" charset="0"/>
                  <a:ea typeface="Calibri" panose="020F0502020204030204" pitchFamily="34" charset="0"/>
                  <a:cs typeface="Gotham" pitchFamily="50" charset="0"/>
                </a:rPr>
                <a:t>Соответствие современным тенденциям развития технологии</a:t>
              </a:r>
              <a:endParaRPr lang="en-US" sz="24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A6F845D-6A1D-46FD-BBCF-4086C2CF0249}"/>
              </a:ext>
            </a:extLst>
          </p:cNvPr>
          <p:cNvSpPr/>
          <p:nvPr/>
        </p:nvSpPr>
        <p:spPr>
          <a:xfrm>
            <a:off x="9144000" y="986795"/>
            <a:ext cx="8686800" cy="8216635"/>
          </a:xfrm>
          <a:prstGeom prst="rect">
            <a:avLst/>
          </a:prstGeom>
          <a:noFill/>
          <a:ln w="38100">
            <a:solidFill>
              <a:srgbClr val="3CBCD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48" name="Slide Number Placeholder 8">
            <a:extLst>
              <a:ext uri="{FF2B5EF4-FFF2-40B4-BE49-F238E27FC236}">
                <a16:creationId xmlns:a16="http://schemas.microsoft.com/office/drawing/2014/main" id="{656A92CD-726B-4FB2-863C-4B0C0A27CAB8}"/>
              </a:ext>
            </a:extLst>
          </p:cNvPr>
          <p:cNvSpPr txBox="1">
            <a:spLocks/>
          </p:cNvSpPr>
          <p:nvPr/>
        </p:nvSpPr>
        <p:spPr>
          <a:xfrm>
            <a:off x="8077200" y="969084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grpSp>
        <p:nvGrpSpPr>
          <p:cNvPr id="49" name="Group 4">
            <a:extLst>
              <a:ext uri="{FF2B5EF4-FFF2-40B4-BE49-F238E27FC236}">
                <a16:creationId xmlns:a16="http://schemas.microsoft.com/office/drawing/2014/main" id="{70CFAD2B-0A8B-42F0-ADC9-DD087F4953FD}"/>
              </a:ext>
            </a:extLst>
          </p:cNvPr>
          <p:cNvGrpSpPr/>
          <p:nvPr/>
        </p:nvGrpSpPr>
        <p:grpSpPr>
          <a:xfrm>
            <a:off x="9630103" y="8067209"/>
            <a:ext cx="7937759" cy="492917"/>
            <a:chOff x="0" y="0"/>
            <a:chExt cx="10583678" cy="657222"/>
          </a:xfrm>
        </p:grpSpPr>
        <p:sp>
          <p:nvSpPr>
            <p:cNvPr id="50" name="Freeform 5">
              <a:extLst>
                <a:ext uri="{FF2B5EF4-FFF2-40B4-BE49-F238E27FC236}">
                  <a16:creationId xmlns:a16="http://schemas.microsoft.com/office/drawing/2014/main" id="{70EB202A-9B1D-4CF7-B212-4F36ABA10338}"/>
                </a:ext>
              </a:extLst>
            </p:cNvPr>
            <p:cNvSpPr/>
            <p:nvPr/>
          </p:nvSpPr>
          <p:spPr>
            <a:xfrm>
              <a:off x="0" y="0"/>
              <a:ext cx="657222" cy="657222"/>
            </a:xfrm>
            <a:custGeom>
              <a:avLst/>
              <a:gdLst/>
              <a:ahLst/>
              <a:cxnLst/>
              <a:rect l="l" t="t" r="r" b="b"/>
              <a:pathLst>
                <a:path w="657222" h="657222">
                  <a:moveTo>
                    <a:pt x="0" y="0"/>
                  </a:moveTo>
                  <a:lnTo>
                    <a:pt x="657222" y="0"/>
                  </a:lnTo>
                  <a:lnTo>
                    <a:pt x="657222" y="657222"/>
                  </a:lnTo>
                  <a:lnTo>
                    <a:pt x="0" y="65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TextBox 6">
              <a:extLst>
                <a:ext uri="{FF2B5EF4-FFF2-40B4-BE49-F238E27FC236}">
                  <a16:creationId xmlns:a16="http://schemas.microsoft.com/office/drawing/2014/main" id="{A160AB84-E561-43DC-9204-5949B877BEFD}"/>
                </a:ext>
              </a:extLst>
            </p:cNvPr>
            <p:cNvSpPr txBox="1"/>
            <p:nvPr/>
          </p:nvSpPr>
          <p:spPr>
            <a:xfrm>
              <a:off x="1340495" y="26775"/>
              <a:ext cx="9243183" cy="534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79"/>
                </a:lnSpc>
              </a:pPr>
              <a:r>
                <a:rPr lang="ru-RU" sz="2400" dirty="0">
                  <a:solidFill>
                    <a:srgbClr val="000000"/>
                  </a:solidFill>
                  <a:latin typeface="Gotham" pitchFamily="50" charset="0"/>
                  <a:cs typeface="Gotham" pitchFamily="50" charset="0"/>
                </a:rPr>
                <a:t>Наличие документации</a:t>
              </a:r>
              <a:endParaRPr lang="en-US" sz="24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1A76FAF3-5382-4AD2-A638-14051FD1798F}"/>
              </a:ext>
            </a:extLst>
          </p:cNvPr>
          <p:cNvSpPr txBox="1"/>
          <p:nvPr/>
        </p:nvSpPr>
        <p:spPr>
          <a:xfrm>
            <a:off x="777944" y="4738186"/>
            <a:ext cx="4508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>
                <a:latin typeface="Gotham" pitchFamily="50" charset="0"/>
                <a:cs typeface="Gotham" pitchFamily="50" charset="0"/>
              </a:rPr>
              <a:t>Концепция</a:t>
            </a:r>
            <a:endParaRPr lang="ru-RU" sz="4000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63" name="TextBox 6">
            <a:extLst>
              <a:ext uri="{FF2B5EF4-FFF2-40B4-BE49-F238E27FC236}">
                <a16:creationId xmlns:a16="http://schemas.microsoft.com/office/drawing/2014/main" id="{CD8A37E4-287C-4E80-8672-3A997F503CE8}"/>
              </a:ext>
            </a:extLst>
          </p:cNvPr>
          <p:cNvSpPr txBox="1"/>
          <p:nvPr/>
        </p:nvSpPr>
        <p:spPr>
          <a:xfrm>
            <a:off x="1564320" y="7275701"/>
            <a:ext cx="7213537" cy="849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79"/>
              </a:lnSpc>
            </a:pPr>
            <a:r>
              <a:rPr lang="ru-RU" sz="2800" dirty="0">
                <a:solidFill>
                  <a:srgbClr val="000000"/>
                </a:solidFill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Обновление и хранение БД уязвимостей</a:t>
            </a:r>
            <a:endParaRPr lang="en-US" sz="3600" dirty="0">
              <a:solidFill>
                <a:srgbClr val="000000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66" name="TextBox 9">
            <a:extLst>
              <a:ext uri="{FF2B5EF4-FFF2-40B4-BE49-F238E27FC236}">
                <a16:creationId xmlns:a16="http://schemas.microsoft.com/office/drawing/2014/main" id="{81B02AAD-4F30-4D28-9533-9E74B6F54D57}"/>
              </a:ext>
            </a:extLst>
          </p:cNvPr>
          <p:cNvSpPr txBox="1"/>
          <p:nvPr/>
        </p:nvSpPr>
        <p:spPr>
          <a:xfrm>
            <a:off x="1558286" y="5953417"/>
            <a:ext cx="6932388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79"/>
              </a:lnSpc>
            </a:pPr>
            <a:r>
              <a:rPr lang="ru-RU" sz="28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ПО / устройство / комплекс</a:t>
            </a:r>
            <a:endParaRPr lang="en-US" sz="3600" dirty="0">
              <a:solidFill>
                <a:srgbClr val="000000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69" name="TextBox 6">
            <a:extLst>
              <a:ext uri="{FF2B5EF4-FFF2-40B4-BE49-F238E27FC236}">
                <a16:creationId xmlns:a16="http://schemas.microsoft.com/office/drawing/2014/main" id="{C4AE569E-E197-4F88-B6F0-7A8E70B969DD}"/>
              </a:ext>
            </a:extLst>
          </p:cNvPr>
          <p:cNvSpPr txBox="1"/>
          <p:nvPr/>
        </p:nvSpPr>
        <p:spPr>
          <a:xfrm>
            <a:off x="1564320" y="8302824"/>
            <a:ext cx="6932388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79"/>
              </a:lnSpc>
            </a:pPr>
            <a:r>
              <a:rPr lang="ru-RU" sz="28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Обученная модель ИИ</a:t>
            </a:r>
            <a:endParaRPr lang="en-US" sz="3600" dirty="0">
              <a:solidFill>
                <a:srgbClr val="000000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72" name="TextBox 9">
            <a:extLst>
              <a:ext uri="{FF2B5EF4-FFF2-40B4-BE49-F238E27FC236}">
                <a16:creationId xmlns:a16="http://schemas.microsoft.com/office/drawing/2014/main" id="{6ED6968A-4FB1-41B2-8D01-9A3B049E57FE}"/>
              </a:ext>
            </a:extLst>
          </p:cNvPr>
          <p:cNvSpPr txBox="1"/>
          <p:nvPr/>
        </p:nvSpPr>
        <p:spPr>
          <a:xfrm>
            <a:off x="1558286" y="6647428"/>
            <a:ext cx="6932388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79"/>
              </a:lnSpc>
            </a:pPr>
            <a:r>
              <a:rPr lang="ru-RU" sz="28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Сканирование сети и устройств</a:t>
            </a:r>
            <a:endParaRPr lang="en-US" sz="2800" dirty="0">
              <a:solidFill>
                <a:srgbClr val="000000"/>
              </a:solidFill>
              <a:latin typeface="Gotham" pitchFamily="50" charset="0"/>
              <a:cs typeface="Gotham" pitchFamily="50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1854BC2-C0AD-4B21-ACD0-4A248F902929}"/>
              </a:ext>
            </a:extLst>
          </p:cNvPr>
          <p:cNvCxnSpPr/>
          <p:nvPr/>
        </p:nvCxnSpPr>
        <p:spPr>
          <a:xfrm>
            <a:off x="1143000" y="5754328"/>
            <a:ext cx="0" cy="3199172"/>
          </a:xfrm>
          <a:prstGeom prst="line">
            <a:avLst/>
          </a:prstGeom>
          <a:ln w="76200">
            <a:solidFill>
              <a:srgbClr val="57BFD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879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8067045-AE8E-4C9D-B240-88E3B1560D0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2933700"/>
            <a:ext cx="11820601" cy="6248400"/>
          </a:xfrm>
          <a:prstGeom prst="rect">
            <a:avLst/>
          </a:prstGeom>
          <a:effectLst/>
        </p:spPr>
      </p:pic>
      <p:sp>
        <p:nvSpPr>
          <p:cNvPr id="16" name="Freeform 3">
            <a:extLst>
              <a:ext uri="{FF2B5EF4-FFF2-40B4-BE49-F238E27FC236}">
                <a16:creationId xmlns:a16="http://schemas.microsoft.com/office/drawing/2014/main" id="{AAD2DB99-4E13-4F97-ADC5-B9AA4BD824CE}"/>
              </a:ext>
            </a:extLst>
          </p:cNvPr>
          <p:cNvSpPr/>
          <p:nvPr/>
        </p:nvSpPr>
        <p:spPr>
          <a:xfrm>
            <a:off x="1175301" y="-10896771"/>
            <a:ext cx="15937397" cy="15937397"/>
          </a:xfrm>
          <a:custGeom>
            <a:avLst/>
            <a:gdLst/>
            <a:ahLst/>
            <a:cxnLst/>
            <a:rect l="l" t="t" r="r" b="b"/>
            <a:pathLst>
              <a:path w="15937397" h="15937397">
                <a:moveTo>
                  <a:pt x="0" y="0"/>
                </a:moveTo>
                <a:lnTo>
                  <a:pt x="15937397" y="0"/>
                </a:lnTo>
                <a:lnTo>
                  <a:pt x="15937397" y="15937397"/>
                </a:lnTo>
                <a:lnTo>
                  <a:pt x="0" y="1593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600200" y="653620"/>
            <a:ext cx="150876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ru-RU" sz="8800" dirty="0">
                <a:latin typeface="Gotham Medium" pitchFamily="50" charset="0"/>
                <a:cs typeface="Gotham Medium" pitchFamily="50" charset="0"/>
              </a:rPr>
              <a:t>Программная часть</a:t>
            </a:r>
            <a:endParaRPr lang="en-US" sz="8800" dirty="0">
              <a:latin typeface="Gotham Medium" pitchFamily="50" charset="0"/>
              <a:cs typeface="Gotham Medium" pitchFamily="50" charset="0"/>
            </a:endParaRPr>
          </a:p>
        </p:txBody>
      </p:sp>
      <p:sp>
        <p:nvSpPr>
          <p:cNvPr id="26" name="Slide Number Placeholder 8">
            <a:extLst>
              <a:ext uri="{FF2B5EF4-FFF2-40B4-BE49-F238E27FC236}">
                <a16:creationId xmlns:a16="http://schemas.microsoft.com/office/drawing/2014/main" id="{7D41D7B5-8038-45D7-8ADC-FF7A9C1EA7F0}"/>
              </a:ext>
            </a:extLst>
          </p:cNvPr>
          <p:cNvSpPr txBox="1">
            <a:spLocks/>
          </p:cNvSpPr>
          <p:nvPr/>
        </p:nvSpPr>
        <p:spPr>
          <a:xfrm>
            <a:off x="83058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F531221-3843-459A-AC77-907D29D2C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14"/>
          <a:stretch/>
        </p:blipFill>
        <p:spPr bwMode="auto">
          <a:xfrm>
            <a:off x="13145212" y="3013304"/>
            <a:ext cx="1713092" cy="173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ile type vscode - Files &amp; Folders Icons">
            <a:extLst>
              <a:ext uri="{FF2B5EF4-FFF2-40B4-BE49-F238E27FC236}">
                <a16:creationId xmlns:a16="http://schemas.microsoft.com/office/drawing/2014/main" id="{C7C3AAD4-B5AF-4FB8-B81E-0B437125B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2530" y="2194134"/>
            <a:ext cx="1474788" cy="147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6054B70B-F973-4446-A6D1-B39399549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696" y="3855314"/>
            <a:ext cx="1267120" cy="146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ED20CA7-9741-4F7E-97FD-EA01BA4DB819}"/>
              </a:ext>
            </a:extLst>
          </p:cNvPr>
          <p:cNvSpPr/>
          <p:nvPr/>
        </p:nvSpPr>
        <p:spPr>
          <a:xfrm>
            <a:off x="12797746" y="1933907"/>
            <a:ext cx="4230014" cy="3693937"/>
          </a:xfrm>
          <a:prstGeom prst="rect">
            <a:avLst/>
          </a:prstGeom>
          <a:noFill/>
          <a:ln w="38100">
            <a:solidFill>
              <a:srgbClr val="3CBCD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2A9B09-2037-44EA-836A-CD24862673B6}"/>
              </a:ext>
            </a:extLst>
          </p:cNvPr>
          <p:cNvSpPr txBox="1"/>
          <p:nvPr/>
        </p:nvSpPr>
        <p:spPr>
          <a:xfrm>
            <a:off x="12890109" y="5699127"/>
            <a:ext cx="234835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sys</a:t>
            </a:r>
          </a:p>
          <a:p>
            <a:r>
              <a:rPr lang="en-US" sz="2800" b="0" dirty="0" err="1">
                <a:effectLst/>
                <a:latin typeface="Consolas" panose="020B0609020204030204" pitchFamily="49" charset="0"/>
              </a:rPr>
              <a:t>feedparser</a:t>
            </a:r>
            <a:endParaRPr lang="en-US" sz="2800" b="0" dirty="0"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effectLst/>
                <a:latin typeface="Consolas" panose="020B0609020204030204" pitchFamily="49" charset="0"/>
              </a:rPr>
              <a:t>wget</a:t>
            </a:r>
            <a:endParaRPr lang="en-US" sz="2800" b="0" dirty="0"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effectLst/>
                <a:latin typeface="Consolas" panose="020B0609020204030204" pitchFamily="49" charset="0"/>
              </a:rPr>
              <a:t>datetime</a:t>
            </a:r>
          </a:p>
          <a:p>
            <a:r>
              <a:rPr lang="en-US" sz="2800" b="0" dirty="0" err="1">
                <a:effectLst/>
                <a:latin typeface="Consolas" panose="020B0609020204030204" pitchFamily="49" charset="0"/>
              </a:rPr>
              <a:t>os</a:t>
            </a:r>
            <a:endParaRPr lang="en-US" sz="2800" b="0" dirty="0"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effectLst/>
                <a:latin typeface="Consolas" panose="020B0609020204030204" pitchFamily="49" charset="0"/>
              </a:rPr>
              <a:t>shutil</a:t>
            </a:r>
            <a:endParaRPr lang="en-US" sz="2800" b="0" dirty="0">
              <a:effectLst/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s</a:t>
            </a:r>
            <a:r>
              <a:rPr lang="en-US" sz="2800" b="0" dirty="0">
                <a:effectLst/>
                <a:latin typeface="Consolas" panose="020B0609020204030204" pitchFamily="49" charset="0"/>
              </a:rPr>
              <a:t>ocket</a:t>
            </a:r>
          </a:p>
          <a:p>
            <a:r>
              <a:rPr lang="en-US" sz="2800" dirty="0" err="1">
                <a:latin typeface="Consolas" panose="020B0609020204030204" pitchFamily="49" charset="0"/>
              </a:rPr>
              <a:t>nmap</a:t>
            </a:r>
            <a:endParaRPr lang="en-US" sz="2800" b="0" dirty="0"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effectLst/>
                <a:latin typeface="Consolas" panose="020B0609020204030204" pitchFamily="49" charset="0"/>
              </a:rPr>
              <a:t>csv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b="0" dirty="0">
                <a:effectLst/>
                <a:latin typeface="Consolas" panose="020B0609020204030204" pitchFamily="49" charset="0"/>
              </a:rPr>
              <a:t>json</a:t>
            </a:r>
          </a:p>
          <a:p>
            <a:r>
              <a:rPr lang="en-US" sz="2800" dirty="0" err="1">
                <a:latin typeface="Consolas" panose="020B0609020204030204" pitchFamily="49" charset="0"/>
              </a:rPr>
              <a:t>pyinstaller</a:t>
            </a: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D10FC0-F4DE-406F-90EB-31FD17C5A32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3503" y="5699127"/>
            <a:ext cx="2102669" cy="177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10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CF6E38C2-A775-4891-872E-D68B7E7072C4}"/>
              </a:ext>
            </a:extLst>
          </p:cNvPr>
          <p:cNvSpPr/>
          <p:nvPr/>
        </p:nvSpPr>
        <p:spPr>
          <a:xfrm>
            <a:off x="750403" y="-10346100"/>
            <a:ext cx="15937397" cy="15937397"/>
          </a:xfrm>
          <a:custGeom>
            <a:avLst/>
            <a:gdLst/>
            <a:ahLst/>
            <a:cxnLst/>
            <a:rect l="l" t="t" r="r" b="b"/>
            <a:pathLst>
              <a:path w="15937397" h="15937397">
                <a:moveTo>
                  <a:pt x="0" y="0"/>
                </a:moveTo>
                <a:lnTo>
                  <a:pt x="15937397" y="0"/>
                </a:lnTo>
                <a:lnTo>
                  <a:pt x="15937397" y="15937397"/>
                </a:lnTo>
                <a:lnTo>
                  <a:pt x="0" y="15937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12" descr="CatBoost · GitHub">
            <a:extLst>
              <a:ext uri="{FF2B5EF4-FFF2-40B4-BE49-F238E27FC236}">
                <a16:creationId xmlns:a16="http://schemas.microsoft.com/office/drawing/2014/main" id="{7D225959-6D1C-498C-A433-7DE4626DA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072" y="7792427"/>
            <a:ext cx="1746680" cy="174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AC2E07CB-6CB8-4068-A2A4-6A595CEA66B5}"/>
              </a:ext>
            </a:extLst>
          </p:cNvPr>
          <p:cNvSpPr txBox="1"/>
          <p:nvPr/>
        </p:nvSpPr>
        <p:spPr>
          <a:xfrm>
            <a:off x="1600200" y="653620"/>
            <a:ext cx="150876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ru-RU" sz="8800" dirty="0">
                <a:latin typeface="Gotham Medium" pitchFamily="50" charset="0"/>
                <a:cs typeface="Gotham Medium" pitchFamily="50" charset="0"/>
              </a:rPr>
              <a:t>Обучение модели</a:t>
            </a:r>
            <a:endParaRPr lang="en-US" sz="8800" dirty="0">
              <a:latin typeface="Gotham Medium" pitchFamily="50" charset="0"/>
              <a:cs typeface="Gotham Medium" pitchFamily="50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2EF6CA-A045-474B-8697-2BDBFDF585B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089" r="36407"/>
          <a:stretch/>
        </p:blipFill>
        <p:spPr>
          <a:xfrm>
            <a:off x="1102994" y="3704935"/>
            <a:ext cx="4893030" cy="37772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B5F558-C93B-44BA-8FB2-064786E2F367}"/>
              </a:ext>
            </a:extLst>
          </p:cNvPr>
          <p:cNvSpPr txBox="1"/>
          <p:nvPr/>
        </p:nvSpPr>
        <p:spPr>
          <a:xfrm>
            <a:off x="6635203" y="3825708"/>
            <a:ext cx="7144685" cy="3567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p</a:t>
            </a:r>
            <a:r>
              <a:rPr lang="ru-RU" sz="2800" dirty="0">
                <a:latin typeface="Consolas" panose="020B0609020204030204" pitchFamily="49" charset="0"/>
                <a:cs typeface="Courier New" panose="02070309020205020404" pitchFamily="49" charset="0"/>
              </a:rPr>
              <a:t>rompts = [</a:t>
            </a:r>
          </a:p>
          <a:p>
            <a:r>
              <a:rPr lang="ru-RU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'What is the reason of vulnerability in this case?',</a:t>
            </a:r>
          </a:p>
          <a:p>
            <a:r>
              <a:rPr lang="ru-RU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'What is the impact of this vulnerability?',</a:t>
            </a:r>
          </a:p>
          <a:p>
            <a:r>
              <a:rPr lang="ru-RU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'Which devices does it affect?’,</a:t>
            </a:r>
          </a:p>
          <a:p>
            <a:r>
              <a:rPr lang="ru-RU" sz="28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D74747-722D-43DD-8164-12FCA6B48EA9}"/>
              </a:ext>
            </a:extLst>
          </p:cNvPr>
          <p:cNvSpPr txBox="1"/>
          <p:nvPr/>
        </p:nvSpPr>
        <p:spPr>
          <a:xfrm>
            <a:off x="2216009" y="2955768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dataset</a:t>
            </a:r>
            <a:endParaRPr lang="ru-RU" sz="3600" dirty="0">
              <a:latin typeface="Consolas" panose="020B0609020204030204" pitchFamily="49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85F7690-01FF-41D1-82CB-20032B0D80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89" y="6388035"/>
            <a:ext cx="1622800" cy="16228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2F49951-E63B-42BB-80D3-8475B63BB50D}"/>
              </a:ext>
            </a:extLst>
          </p:cNvPr>
          <p:cNvSpPr txBox="1"/>
          <p:nvPr/>
        </p:nvSpPr>
        <p:spPr>
          <a:xfrm rot="16200000">
            <a:off x="-1577247" y="5034642"/>
            <a:ext cx="419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onsolas" panose="020B0609020204030204" pitchFamily="49" charset="0"/>
              </a:rPr>
              <a:t>QA LLM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EEF07A-5266-4159-895E-53D87E3D9849}"/>
              </a:ext>
            </a:extLst>
          </p:cNvPr>
          <p:cNvSpPr/>
          <p:nvPr/>
        </p:nvSpPr>
        <p:spPr>
          <a:xfrm>
            <a:off x="6368411" y="3704934"/>
            <a:ext cx="6785583" cy="3772725"/>
          </a:xfrm>
          <a:prstGeom prst="rect">
            <a:avLst/>
          </a:prstGeom>
          <a:noFill/>
          <a:ln w="38100">
            <a:solidFill>
              <a:srgbClr val="3CBCD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A20041-1BAA-4F5B-8E01-B77678723FA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538" y="5344011"/>
            <a:ext cx="3372912" cy="2529684"/>
          </a:xfrm>
          <a:prstGeom prst="rect">
            <a:avLst/>
          </a:prstGeom>
        </p:spPr>
      </p:pic>
      <p:sp>
        <p:nvSpPr>
          <p:cNvPr id="18" name="Rectangle 3">
            <a:extLst>
              <a:ext uri="{FF2B5EF4-FFF2-40B4-BE49-F238E27FC236}">
                <a16:creationId xmlns:a16="http://schemas.microsoft.com/office/drawing/2014/main" id="{5333D7F7-70B7-4BF2-A1E5-F1C6ABA65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2825" y="3867747"/>
            <a:ext cx="3498407" cy="34470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27B6D5"/>
                </a:solidFill>
                <a:effectLst/>
                <a:latin typeface="Consolas" panose="020B0609020204030204" pitchFamily="49" charset="0"/>
              </a:rPr>
              <a:t>metrics: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27B6D5"/>
                </a:solidFill>
                <a:effectLst/>
                <a:latin typeface="Consolas" panose="020B0609020204030204" pitchFamily="49" charset="0"/>
              </a:rPr>
              <a:t>"exact":</a:t>
            </a:r>
            <a:endParaRPr kumimoji="0" lang="en-US" altLang="ru-RU" sz="2800" b="0" i="0" u="none" strike="noStrike" cap="none" normalizeH="0" baseline="0" dirty="0">
              <a:ln>
                <a:noFill/>
              </a:ln>
              <a:solidFill>
                <a:srgbClr val="27B6D5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79.8702939442432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27B6D5"/>
                </a:solidFill>
                <a:effectLst/>
                <a:latin typeface="Consolas" panose="020B0609020204030204" pitchFamily="49" charset="0"/>
              </a:rPr>
              <a:t>"f1":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82.9125116958261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27B6D5"/>
                </a:solidFill>
                <a:effectLst/>
                <a:latin typeface="Consolas" panose="020B0609020204030204" pitchFamily="49" charset="0"/>
              </a:rPr>
              <a:t>"total":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11873 </a:t>
            </a:r>
            <a:endParaRPr kumimoji="0" lang="ru-RU" altLang="ru-RU" sz="54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4C06BF-E4F3-4905-9043-C43B4883F218}"/>
              </a:ext>
            </a:extLst>
          </p:cNvPr>
          <p:cNvSpPr txBox="1"/>
          <p:nvPr/>
        </p:nvSpPr>
        <p:spPr>
          <a:xfrm>
            <a:off x="11706194" y="7592372"/>
            <a:ext cx="289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onsolas" panose="020B0609020204030204" pitchFamily="49" charset="0"/>
              </a:rPr>
              <a:t>+ </a:t>
            </a:r>
            <a:r>
              <a:rPr lang="en-US" sz="2000" dirty="0">
                <a:latin typeface="Consolas" panose="020B0609020204030204" pitchFamily="49" charset="0"/>
              </a:rPr>
              <a:t>transformers lib</a:t>
            </a:r>
            <a:endParaRPr lang="ru-RU" sz="2000" dirty="0">
              <a:latin typeface="Consolas" panose="020B0609020204030204" pitchFamily="49" charset="0"/>
            </a:endParaRPr>
          </a:p>
        </p:txBody>
      </p:sp>
      <p:sp>
        <p:nvSpPr>
          <p:cNvPr id="27" name="Slide Number Placeholder 8">
            <a:extLst>
              <a:ext uri="{FF2B5EF4-FFF2-40B4-BE49-F238E27FC236}">
                <a16:creationId xmlns:a16="http://schemas.microsoft.com/office/drawing/2014/main" id="{DF38B059-7B37-4E52-AA9D-D094F0D4FFD9}"/>
              </a:ext>
            </a:extLst>
          </p:cNvPr>
          <p:cNvSpPr txBox="1">
            <a:spLocks/>
          </p:cNvSpPr>
          <p:nvPr/>
        </p:nvSpPr>
        <p:spPr>
          <a:xfrm>
            <a:off x="83058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49818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F6B94CE5-BCA7-4103-8373-D3943D1B7EF6}"/>
              </a:ext>
            </a:extLst>
          </p:cNvPr>
          <p:cNvSpPr/>
          <p:nvPr/>
        </p:nvSpPr>
        <p:spPr>
          <a:xfrm>
            <a:off x="750403" y="-10346100"/>
            <a:ext cx="15937397" cy="15937397"/>
          </a:xfrm>
          <a:custGeom>
            <a:avLst/>
            <a:gdLst/>
            <a:ahLst/>
            <a:cxnLst/>
            <a:rect l="l" t="t" r="r" b="b"/>
            <a:pathLst>
              <a:path w="15937397" h="15937397">
                <a:moveTo>
                  <a:pt x="0" y="0"/>
                </a:moveTo>
                <a:lnTo>
                  <a:pt x="15937397" y="0"/>
                </a:lnTo>
                <a:lnTo>
                  <a:pt x="15937397" y="15937397"/>
                </a:lnTo>
                <a:lnTo>
                  <a:pt x="0" y="15937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5FA3F65-F31A-4980-8183-0B172A25DFC6}"/>
              </a:ext>
            </a:extLst>
          </p:cNvPr>
          <p:cNvCxnSpPr>
            <a:cxnSpLocks/>
          </p:cNvCxnSpPr>
          <p:nvPr/>
        </p:nvCxnSpPr>
        <p:spPr>
          <a:xfrm flipH="1">
            <a:off x="9942624" y="4076700"/>
            <a:ext cx="4535376" cy="2225779"/>
          </a:xfrm>
          <a:prstGeom prst="line">
            <a:avLst/>
          </a:prstGeom>
          <a:ln w="76200">
            <a:solidFill>
              <a:srgbClr val="92D05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9BF288D-380F-463A-8FC3-AE79967DB45D}"/>
              </a:ext>
            </a:extLst>
          </p:cNvPr>
          <p:cNvCxnSpPr>
            <a:cxnSpLocks/>
          </p:cNvCxnSpPr>
          <p:nvPr/>
        </p:nvCxnSpPr>
        <p:spPr>
          <a:xfrm>
            <a:off x="3034126" y="3480484"/>
            <a:ext cx="2376074" cy="1445533"/>
          </a:xfrm>
          <a:prstGeom prst="line">
            <a:avLst/>
          </a:prstGeom>
          <a:ln w="7620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 Number Placeholder 8">
            <a:extLst>
              <a:ext uri="{FF2B5EF4-FFF2-40B4-BE49-F238E27FC236}">
                <a16:creationId xmlns:a16="http://schemas.microsoft.com/office/drawing/2014/main" id="{7D41D7B5-8038-45D7-8ADC-FF7A9C1EA7F0}"/>
              </a:ext>
            </a:extLst>
          </p:cNvPr>
          <p:cNvSpPr txBox="1">
            <a:spLocks/>
          </p:cNvSpPr>
          <p:nvPr/>
        </p:nvSpPr>
        <p:spPr>
          <a:xfrm>
            <a:off x="83058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53E84F51-EE30-4E58-AA6C-7AF9930D783A}"/>
              </a:ext>
            </a:extLst>
          </p:cNvPr>
          <p:cNvSpPr txBox="1"/>
          <p:nvPr/>
        </p:nvSpPr>
        <p:spPr>
          <a:xfrm>
            <a:off x="1600200" y="653620"/>
            <a:ext cx="150876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ru-RU" sz="8800" dirty="0">
                <a:latin typeface="Gotham Medium" pitchFamily="50" charset="0"/>
                <a:cs typeface="Gotham Medium" pitchFamily="50" charset="0"/>
              </a:rPr>
              <a:t>Техническая часть</a:t>
            </a:r>
            <a:endParaRPr lang="en-US" sz="8800" dirty="0">
              <a:latin typeface="Gotham Medium" pitchFamily="50" charset="0"/>
              <a:cs typeface="Gotham Medium" pitchFamily="50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DFFADEA-736A-4603-AEB9-E5986F1BBC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84726"/>
            <a:ext cx="3077480" cy="24619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6498747-59D4-446D-B5CA-9C3798F1D9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3493558"/>
            <a:ext cx="7222789" cy="672687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42EBE35-D755-4A60-8956-57231C32BD37}"/>
              </a:ext>
            </a:extLst>
          </p:cNvPr>
          <p:cNvSpPr txBox="1"/>
          <p:nvPr/>
        </p:nvSpPr>
        <p:spPr>
          <a:xfrm>
            <a:off x="5257800" y="4926017"/>
            <a:ext cx="27399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Consolas" panose="020B0609020204030204" pitchFamily="49" charset="0"/>
              </a:rPr>
              <a:t>IoT d</a:t>
            </a:r>
            <a:r>
              <a:rPr lang="en-US" sz="2800" b="0" dirty="0">
                <a:effectLst/>
                <a:latin typeface="Consolas" panose="020B0609020204030204" pitchFamily="49" charset="0"/>
              </a:rPr>
              <a:t>evices in local network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50C3544-EDB5-4386-A6D2-DDBE0C2A73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846" y="6072204"/>
            <a:ext cx="3643907" cy="241029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B42AFF7-916A-4D5A-BFA7-186993D74330}"/>
              </a:ext>
            </a:extLst>
          </p:cNvPr>
          <p:cNvSpPr txBox="1"/>
          <p:nvPr/>
        </p:nvSpPr>
        <p:spPr>
          <a:xfrm>
            <a:off x="3025227" y="4463591"/>
            <a:ext cx="19056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dirty="0">
                <a:effectLst/>
                <a:latin typeface="Consolas" panose="020B0609020204030204" pitchFamily="49" charset="0"/>
              </a:rPr>
              <a:t>iptables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AE82372-BA56-4657-9651-DAD52B951C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298" y="2994493"/>
            <a:ext cx="1931524" cy="193152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A0D6168-E566-4D64-931E-99F8E4CDA4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0" y="2369687"/>
            <a:ext cx="3667125" cy="36671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8E76AC0-A7AA-40B3-BC1C-23E7CB3D3F5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920" y="4785495"/>
            <a:ext cx="1505200" cy="149202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F2314B8-8D27-403B-AC1E-84BDDD2B52AF}"/>
              </a:ext>
            </a:extLst>
          </p:cNvPr>
          <p:cNvSpPr txBox="1"/>
          <p:nvPr/>
        </p:nvSpPr>
        <p:spPr>
          <a:xfrm rot="1852963">
            <a:off x="5851800" y="7594489"/>
            <a:ext cx="2739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latin typeface="Consolas" panose="020B0609020204030204" pitchFamily="49" charset="0"/>
              </a:rPr>
              <a:t>RegulIoT</a:t>
            </a: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140FC7-C56C-4D6B-BE12-0092F0920425}"/>
              </a:ext>
            </a:extLst>
          </p:cNvPr>
          <p:cNvSpPr/>
          <p:nvPr/>
        </p:nvSpPr>
        <p:spPr>
          <a:xfrm>
            <a:off x="6346007" y="8783808"/>
            <a:ext cx="1981200" cy="111425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8BCCC68-96E5-44E0-BD62-2F0A0699C982}"/>
              </a:ext>
            </a:extLst>
          </p:cNvPr>
          <p:cNvSpPr/>
          <p:nvPr/>
        </p:nvSpPr>
        <p:spPr>
          <a:xfrm>
            <a:off x="6109302" y="9178243"/>
            <a:ext cx="1981200" cy="111425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E834A8F2-3BC4-47CF-8602-075E464B537C}"/>
              </a:ext>
            </a:extLst>
          </p:cNvPr>
          <p:cNvSpPr/>
          <p:nvPr/>
        </p:nvSpPr>
        <p:spPr>
          <a:xfrm rot="2669813">
            <a:off x="7184275" y="4896435"/>
            <a:ext cx="2585251" cy="853981"/>
          </a:xfrm>
          <a:prstGeom prst="curved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1EF5AC-ABF5-44D7-8990-420DBD71DB6E}"/>
              </a:ext>
            </a:extLst>
          </p:cNvPr>
          <p:cNvCxnSpPr/>
          <p:nvPr/>
        </p:nvCxnSpPr>
        <p:spPr>
          <a:xfrm flipV="1">
            <a:off x="10287000" y="5429102"/>
            <a:ext cx="3962400" cy="1963386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4E4D9E7-8F80-4741-BB2E-A7C5BA55FC6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6880" y="5620917"/>
            <a:ext cx="1104760" cy="83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81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-139916"/>
            <a:ext cx="18382649" cy="11029589"/>
          </a:xfrm>
          <a:custGeom>
            <a:avLst/>
            <a:gdLst/>
            <a:ahLst/>
            <a:cxnLst/>
            <a:rect l="l" t="t" r="r" b="b"/>
            <a:pathLst>
              <a:path w="18382649" h="11029589">
                <a:moveTo>
                  <a:pt x="18382649" y="11029589"/>
                </a:moveTo>
                <a:lnTo>
                  <a:pt x="0" y="11029589"/>
                </a:lnTo>
                <a:lnTo>
                  <a:pt x="0" y="0"/>
                </a:lnTo>
                <a:lnTo>
                  <a:pt x="18382649" y="0"/>
                </a:lnTo>
                <a:lnTo>
                  <a:pt x="18382649" y="1102958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sz="1400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56995" y="526245"/>
            <a:ext cx="15374007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ru-RU" sz="8800" dirty="0">
                <a:solidFill>
                  <a:srgbClr val="FFFFFF"/>
                </a:solidFill>
                <a:latin typeface="Gotham Medium" pitchFamily="50" charset="0"/>
                <a:cs typeface="Gotham Medium" pitchFamily="50" charset="0"/>
              </a:rPr>
              <a:t>Потенциал применения</a:t>
            </a:r>
            <a:endParaRPr lang="en-US" sz="8800" dirty="0">
              <a:solidFill>
                <a:srgbClr val="FFFFFF"/>
              </a:solidFill>
              <a:latin typeface="Gotham Medium" pitchFamily="50" charset="0"/>
              <a:cs typeface="Gotham Medium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5304A-84DB-4A66-A833-31EDC0CCB907}"/>
              </a:ext>
            </a:extLst>
          </p:cNvPr>
          <p:cNvSpPr/>
          <p:nvPr/>
        </p:nvSpPr>
        <p:spPr>
          <a:xfrm>
            <a:off x="0" y="2324101"/>
            <a:ext cx="18287999" cy="79628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 algn="ctr">
              <a:spcAft>
                <a:spcPts val="600"/>
              </a:spcAft>
            </a:pPr>
            <a:r>
              <a:rPr lang="ru-RU" sz="1400" dirty="0">
                <a:latin typeface="Gotham" pitchFamily="50" charset="0"/>
                <a:cs typeface="Gotham" pitchFamily="50" charset="0"/>
              </a:rPr>
              <a:t>разработчики ПО, сетевые инженеры, мед. персонал, обычные пользователи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0730872-ED50-4705-8B2B-7458F9044135}"/>
              </a:ext>
            </a:extLst>
          </p:cNvPr>
          <p:cNvSpPr/>
          <p:nvPr/>
        </p:nvSpPr>
        <p:spPr>
          <a:xfrm>
            <a:off x="9119807" y="3191269"/>
            <a:ext cx="8256203" cy="1998471"/>
          </a:xfrm>
          <a:prstGeom prst="roundRect">
            <a:avLst>
              <a:gd name="adj" fmla="val 21470"/>
            </a:avLst>
          </a:prstGeom>
          <a:solidFill>
            <a:schemeClr val="bg1"/>
          </a:solidFill>
          <a:ln w="50800">
            <a:solidFill>
              <a:srgbClr val="9537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6" name="Slide Number Placeholder 8">
            <a:extLst>
              <a:ext uri="{FF2B5EF4-FFF2-40B4-BE49-F238E27FC236}">
                <a16:creationId xmlns:a16="http://schemas.microsoft.com/office/drawing/2014/main" id="{7D41D7B5-8038-45D7-8ADC-FF7A9C1EA7F0}"/>
              </a:ext>
            </a:extLst>
          </p:cNvPr>
          <p:cNvSpPr txBox="1">
            <a:spLocks/>
          </p:cNvSpPr>
          <p:nvPr/>
        </p:nvSpPr>
        <p:spPr>
          <a:xfrm>
            <a:off x="8305800" y="982673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b="1" dirty="0">
              <a:solidFill>
                <a:schemeClr val="accent5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FA964-D394-4AC6-98E5-30C9673C4A7E}"/>
              </a:ext>
            </a:extLst>
          </p:cNvPr>
          <p:cNvSpPr txBox="1"/>
          <p:nvPr/>
        </p:nvSpPr>
        <p:spPr>
          <a:xfrm>
            <a:off x="1207104" y="2601652"/>
            <a:ext cx="670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algn="ctr">
              <a:spcAft>
                <a:spcPts val="600"/>
              </a:spcAft>
            </a:pPr>
            <a:r>
              <a:rPr lang="ru-RU" sz="32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Целевая аудитория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C1921C-2777-46A0-8F4D-5C8AF7919E4E}"/>
              </a:ext>
            </a:extLst>
          </p:cNvPr>
          <p:cNvSpPr txBox="1"/>
          <p:nvPr/>
        </p:nvSpPr>
        <p:spPr>
          <a:xfrm>
            <a:off x="943880" y="5964087"/>
            <a:ext cx="7374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algn="ctr">
              <a:spcAft>
                <a:spcPts val="600"/>
              </a:spcAft>
            </a:pPr>
            <a:r>
              <a:rPr lang="ru-RU" sz="32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Внедрение </a:t>
            </a:r>
            <a:r>
              <a:rPr lang="ru-RU" sz="3200" dirty="0">
                <a:latin typeface="Gotham" pitchFamily="50" charset="0"/>
                <a:cs typeface="Gotham" pitchFamily="50" charset="0"/>
              </a:rPr>
              <a:t>во многие про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ц</a:t>
            </a:r>
            <a:r>
              <a:rPr lang="ru-RU" sz="3200" dirty="0">
                <a:latin typeface="Gotham" pitchFamily="50" charset="0"/>
                <a:cs typeface="Gotham" pitchFamily="50" charset="0"/>
              </a:rPr>
              <a:t>ессы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079126-A65E-4FC2-8E94-06AC3616CA3A}"/>
              </a:ext>
            </a:extLst>
          </p:cNvPr>
          <p:cNvSpPr/>
          <p:nvPr/>
        </p:nvSpPr>
        <p:spPr>
          <a:xfrm>
            <a:off x="1207376" y="3225506"/>
            <a:ext cx="6705600" cy="2447683"/>
          </a:xfrm>
          <a:prstGeom prst="roundRect">
            <a:avLst>
              <a:gd name="adj" fmla="val 21470"/>
            </a:avLst>
          </a:prstGeom>
          <a:solidFill>
            <a:schemeClr val="bg1"/>
          </a:solidFill>
          <a:ln w="50800">
            <a:solidFill>
              <a:srgbClr val="20B3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5030A6-B754-421F-A70D-C8D0F0A0D6CF}"/>
              </a:ext>
            </a:extLst>
          </p:cNvPr>
          <p:cNvSpPr txBox="1"/>
          <p:nvPr/>
        </p:nvSpPr>
        <p:spPr>
          <a:xfrm>
            <a:off x="1329287" y="3420651"/>
            <a:ext cx="646123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algn="ctr">
              <a:spcAft>
                <a:spcPts val="600"/>
              </a:spcAft>
            </a:pPr>
            <a:r>
              <a:rPr lang="ru-RU" sz="3200" dirty="0">
                <a:latin typeface="Gotham" pitchFamily="50" charset="0"/>
                <a:cs typeface="Gotham" pitchFamily="50" charset="0"/>
              </a:rPr>
              <a:t>разработчики ПО</a:t>
            </a:r>
            <a:br>
              <a:rPr lang="ru-RU" sz="3200" dirty="0">
                <a:latin typeface="Gotham" pitchFamily="50" charset="0"/>
                <a:cs typeface="Gotham" pitchFamily="50" charset="0"/>
              </a:rPr>
            </a:br>
            <a:r>
              <a:rPr lang="ru-RU" sz="3200" dirty="0">
                <a:latin typeface="Gotham" pitchFamily="50" charset="0"/>
                <a:cs typeface="Gotham" pitchFamily="50" charset="0"/>
              </a:rPr>
              <a:t>сетевые инженеры</a:t>
            </a:r>
            <a:br>
              <a:rPr lang="ru-RU" sz="3200" dirty="0">
                <a:latin typeface="Gotham" pitchFamily="50" charset="0"/>
                <a:cs typeface="Gotham" pitchFamily="50" charset="0"/>
              </a:rPr>
            </a:br>
            <a:r>
              <a:rPr lang="ru-RU" sz="3200" dirty="0">
                <a:latin typeface="Gotham" pitchFamily="50" charset="0"/>
                <a:cs typeface="Gotham" pitchFamily="50" charset="0"/>
              </a:rPr>
              <a:t>медперсонал</a:t>
            </a:r>
            <a:br>
              <a:rPr lang="ru-RU" sz="3200" dirty="0">
                <a:latin typeface="Gotham" pitchFamily="50" charset="0"/>
                <a:cs typeface="Gotham" pitchFamily="50" charset="0"/>
              </a:rPr>
            </a:br>
            <a:r>
              <a:rPr lang="ru-RU" sz="3200" dirty="0">
                <a:latin typeface="Gotham" pitchFamily="50" charset="0"/>
                <a:cs typeface="Gotham" pitchFamily="50" charset="0"/>
              </a:rPr>
              <a:t>обычные пользователи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DF19AE4-B4D0-4FAE-AA3F-D4EF3F343AC5}"/>
              </a:ext>
            </a:extLst>
          </p:cNvPr>
          <p:cNvSpPr/>
          <p:nvPr/>
        </p:nvSpPr>
        <p:spPr>
          <a:xfrm>
            <a:off x="1290802" y="6642448"/>
            <a:ext cx="6705600" cy="2828859"/>
          </a:xfrm>
          <a:prstGeom prst="roundRect">
            <a:avLst>
              <a:gd name="adj" fmla="val 21470"/>
            </a:avLst>
          </a:prstGeom>
          <a:solidFill>
            <a:schemeClr val="bg1"/>
          </a:solidFill>
          <a:ln w="50800">
            <a:solidFill>
              <a:srgbClr val="20B3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D36AE8-40CA-4EB9-AA96-DC9D429FC392}"/>
              </a:ext>
            </a:extLst>
          </p:cNvPr>
          <p:cNvSpPr txBox="1"/>
          <p:nvPr/>
        </p:nvSpPr>
        <p:spPr>
          <a:xfrm>
            <a:off x="1486865" y="6779604"/>
            <a:ext cx="628854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algn="ctr">
              <a:spcAft>
                <a:spcPts val="600"/>
              </a:spcAft>
            </a:pPr>
            <a:r>
              <a:rPr lang="ru-RU" sz="3200" dirty="0">
                <a:latin typeface="Gotham" pitchFamily="50" charset="0"/>
                <a:cs typeface="Gotham" pitchFamily="50" charset="0"/>
              </a:rPr>
              <a:t>производства</a:t>
            </a:r>
            <a:br>
              <a:rPr lang="ru-RU" sz="3200" dirty="0">
                <a:latin typeface="Gotham" pitchFamily="50" charset="0"/>
                <a:cs typeface="Gotham" pitchFamily="50" charset="0"/>
              </a:rPr>
            </a:br>
            <a:r>
              <a:rPr lang="ru-RU" sz="3200" dirty="0">
                <a:latin typeface="Gotham" pitchFamily="50" charset="0"/>
                <a:cs typeface="Gotham" pitchFamily="50" charset="0"/>
              </a:rPr>
              <a:t>навига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ц</a:t>
            </a:r>
            <a:r>
              <a:rPr lang="ru-RU" sz="3200" dirty="0">
                <a:latin typeface="Gotham" pitchFamily="50" charset="0"/>
                <a:cs typeface="Gotham" pitchFamily="50" charset="0"/>
              </a:rPr>
              <a:t>ии</a:t>
            </a:r>
            <a:br>
              <a:rPr lang="ru-RU" sz="3200" dirty="0">
                <a:latin typeface="Gotham" pitchFamily="50" charset="0"/>
                <a:cs typeface="Gotham" pitchFamily="50" charset="0"/>
              </a:rPr>
            </a:br>
            <a:r>
              <a:rPr lang="ru-RU" sz="3200" dirty="0">
                <a:latin typeface="Gotham" pitchFamily="50" charset="0"/>
                <a:cs typeface="Gotham" pitchFamily="50" charset="0"/>
              </a:rPr>
              <a:t>меди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ц</a:t>
            </a:r>
            <a:r>
              <a:rPr lang="ru-RU" sz="3200" dirty="0">
                <a:latin typeface="Gotham" pitchFamily="50" charset="0"/>
                <a:cs typeface="Gotham" pitchFamily="50" charset="0"/>
              </a:rPr>
              <a:t>инских учреждений</a:t>
            </a:r>
            <a:br>
              <a:rPr lang="ru-RU" sz="3200" dirty="0">
                <a:latin typeface="Gotham" pitchFamily="50" charset="0"/>
                <a:cs typeface="Gotham" pitchFamily="50" charset="0"/>
              </a:rPr>
            </a:br>
            <a:r>
              <a:rPr lang="ru-RU" sz="3200" dirty="0">
                <a:latin typeface="Gotham" pitchFamily="50" charset="0"/>
                <a:cs typeface="Gotham" pitchFamily="50" charset="0"/>
              </a:rPr>
              <a:t>умного дома</a:t>
            </a:r>
            <a:br>
              <a:rPr lang="ru-RU" sz="3200" dirty="0">
                <a:latin typeface="Gotham" pitchFamily="50" charset="0"/>
                <a:cs typeface="Gotham" pitchFamily="50" charset="0"/>
              </a:rPr>
            </a:br>
            <a:r>
              <a:rPr lang="ru-RU" sz="3200" dirty="0">
                <a:latin typeface="Gotham" pitchFamily="50" charset="0"/>
                <a:cs typeface="Gotham" pitchFamily="50" charset="0"/>
              </a:rPr>
              <a:t>автомобилей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2453FC-4F51-4784-9D0F-1EB4C85E9FED}"/>
              </a:ext>
            </a:extLst>
          </p:cNvPr>
          <p:cNvSpPr txBox="1"/>
          <p:nvPr/>
        </p:nvSpPr>
        <p:spPr>
          <a:xfrm>
            <a:off x="10017291" y="2640731"/>
            <a:ext cx="670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algn="ctr">
              <a:spcAft>
                <a:spcPts val="600"/>
              </a:spcAft>
            </a:pPr>
            <a:r>
              <a:rPr lang="ru-RU" sz="3200" dirty="0">
                <a:solidFill>
                  <a:schemeClr val="accent2">
                    <a:lumMod val="75000"/>
                  </a:schemeClr>
                </a:solidFill>
                <a:latin typeface="Gotham" pitchFamily="50" charset="0"/>
                <a:cs typeface="Gotham" pitchFamily="50" charset="0"/>
              </a:rPr>
              <a:t>Новый продукт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A08C21-A262-44FC-A151-B5BBAF9A8F38}"/>
              </a:ext>
            </a:extLst>
          </p:cNvPr>
          <p:cNvSpPr txBox="1"/>
          <p:nvPr/>
        </p:nvSpPr>
        <p:spPr>
          <a:xfrm>
            <a:off x="9895108" y="5279723"/>
            <a:ext cx="670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algn="ctr">
              <a:spcAft>
                <a:spcPts val="600"/>
              </a:spcAft>
            </a:pPr>
            <a:r>
              <a:rPr lang="ru-RU" sz="3200" dirty="0">
                <a:solidFill>
                  <a:schemeClr val="accent3">
                    <a:lumMod val="75000"/>
                  </a:schemeClr>
                </a:solidFill>
                <a:latin typeface="Gotham" pitchFamily="50" charset="0"/>
                <a:cs typeface="Gotham" pitchFamily="50" charset="0"/>
              </a:rPr>
              <a:t>Представления о разработке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2004A6-8E70-4C6C-A4A2-0DA299C437A9}"/>
              </a:ext>
            </a:extLst>
          </p:cNvPr>
          <p:cNvSpPr txBox="1"/>
          <p:nvPr/>
        </p:nvSpPr>
        <p:spPr>
          <a:xfrm>
            <a:off x="10107010" y="3335308"/>
            <a:ext cx="6461234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algn="ctr">
              <a:spcAft>
                <a:spcPts val="600"/>
              </a:spcAft>
            </a:pPr>
            <a:r>
              <a:rPr lang="ru-RU" sz="3200" dirty="0">
                <a:latin typeface="Gotham" pitchFamily="50" charset="0"/>
                <a:cs typeface="Gotham" pitchFamily="50" charset="0"/>
              </a:rPr>
              <a:t>Импортозамещение</a:t>
            </a:r>
          </a:p>
          <a:p>
            <a:pPr marL="72000" algn="ctr">
              <a:spcAft>
                <a:spcPts val="600"/>
              </a:spcAft>
            </a:pPr>
            <a:r>
              <a:rPr lang="ru-RU" sz="3200" dirty="0">
                <a:latin typeface="Gotham" pitchFamily="50" charset="0"/>
                <a:cs typeface="Gotham" pitchFamily="50" charset="0"/>
              </a:rPr>
              <a:t>Обеспечение рабочих мест</a:t>
            </a:r>
          </a:p>
          <a:p>
            <a:pPr marL="72000" algn="ctr">
              <a:spcAft>
                <a:spcPts val="600"/>
              </a:spcAft>
            </a:pPr>
            <a:r>
              <a:rPr lang="ru-RU" sz="3200" dirty="0">
                <a:latin typeface="Gotham" pitchFamily="50" charset="0"/>
                <a:cs typeface="Gotham" pitchFamily="50" charset="0"/>
              </a:rPr>
              <a:t>Потен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ц</a:t>
            </a:r>
            <a:r>
              <a:rPr lang="ru-RU" sz="3200" dirty="0">
                <a:latin typeface="Gotham" pitchFamily="50" charset="0"/>
                <a:cs typeface="Gotham" pitchFamily="50" charset="0"/>
              </a:rPr>
              <a:t>иал и развитие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58C5225-CC05-45CA-85BF-FC58EA823E87}"/>
              </a:ext>
            </a:extLst>
          </p:cNvPr>
          <p:cNvSpPr/>
          <p:nvPr/>
        </p:nvSpPr>
        <p:spPr>
          <a:xfrm>
            <a:off x="9119807" y="5864498"/>
            <a:ext cx="8256203" cy="3640272"/>
          </a:xfrm>
          <a:prstGeom prst="roundRect">
            <a:avLst>
              <a:gd name="adj" fmla="val 21470"/>
            </a:avLst>
          </a:prstGeom>
          <a:solidFill>
            <a:schemeClr val="bg1"/>
          </a:solidFill>
          <a:ln w="50800">
            <a:solidFill>
              <a:srgbClr val="7793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D4ED94-C980-4BAE-BA8F-40A2F6F9EC6D}"/>
              </a:ext>
            </a:extLst>
          </p:cNvPr>
          <p:cNvSpPr txBox="1"/>
          <p:nvPr/>
        </p:nvSpPr>
        <p:spPr>
          <a:xfrm>
            <a:off x="9287204" y="7000630"/>
            <a:ext cx="34447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algn="ctr">
              <a:spcAft>
                <a:spcPts val="600"/>
              </a:spcAft>
            </a:pPr>
            <a:r>
              <a:rPr lang="ru-RU" sz="3200" dirty="0">
                <a:latin typeface="Gotham" pitchFamily="50" charset="0"/>
                <a:cs typeface="Gotham" pitchFamily="50" charset="0"/>
              </a:rPr>
              <a:t>Целостность</a:t>
            </a:r>
            <a:endParaRPr lang="ru-RU" sz="2800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2A5D3C-AAC2-4A7A-A53C-C22131EB32C3}"/>
              </a:ext>
            </a:extLst>
          </p:cNvPr>
          <p:cNvSpPr txBox="1"/>
          <p:nvPr/>
        </p:nvSpPr>
        <p:spPr>
          <a:xfrm>
            <a:off x="9525000" y="6119397"/>
            <a:ext cx="44353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>
              <a:spcAft>
                <a:spcPts val="600"/>
              </a:spcAft>
            </a:pPr>
            <a:r>
              <a:rPr lang="ru-RU" sz="3200" dirty="0">
                <a:latin typeface="Gotham" pitchFamily="50" charset="0"/>
                <a:cs typeface="Gotham" pitchFamily="50" charset="0"/>
              </a:rPr>
              <a:t>Автономность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78623F-230B-4928-8F66-A0D91183723D}"/>
              </a:ext>
            </a:extLst>
          </p:cNvPr>
          <p:cNvSpPr txBox="1"/>
          <p:nvPr/>
        </p:nvSpPr>
        <p:spPr>
          <a:xfrm>
            <a:off x="13149756" y="6119397"/>
            <a:ext cx="38680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algn="r">
              <a:spcAft>
                <a:spcPts val="600"/>
              </a:spcAft>
            </a:pPr>
            <a:r>
              <a:rPr lang="ru-RU" sz="3200" dirty="0">
                <a:latin typeface="Gotham" pitchFamily="50" charset="0"/>
                <a:cs typeface="Gotham" pitchFamily="50" charset="0"/>
              </a:rPr>
              <a:t>Удобство в использовании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544242-C79B-42D5-837F-313D38F925E1}"/>
              </a:ext>
            </a:extLst>
          </p:cNvPr>
          <p:cNvSpPr txBox="1"/>
          <p:nvPr/>
        </p:nvSpPr>
        <p:spPr>
          <a:xfrm>
            <a:off x="12661794" y="7430041"/>
            <a:ext cx="432631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algn="r">
              <a:spcAft>
                <a:spcPts val="600"/>
              </a:spcAft>
            </a:pPr>
            <a:r>
              <a:rPr lang="ru-RU" sz="3200" dirty="0">
                <a:latin typeface="Gotham" pitchFamily="50" charset="0"/>
                <a:cs typeface="Gotham" pitchFamily="50" charset="0"/>
              </a:rPr>
              <a:t>Гибкая 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ц</a:t>
            </a:r>
            <a:r>
              <a:rPr lang="ru-RU" sz="3200" dirty="0">
                <a:latin typeface="Gotham" pitchFamily="50" charset="0"/>
                <a:cs typeface="Gotham" pitchFamily="50" charset="0"/>
              </a:rPr>
              <a:t>ена для пользователей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CCBB9E-CF91-4A12-87CE-A2E0DCA225A1}"/>
              </a:ext>
            </a:extLst>
          </p:cNvPr>
          <p:cNvSpPr txBox="1"/>
          <p:nvPr/>
        </p:nvSpPr>
        <p:spPr>
          <a:xfrm>
            <a:off x="9525000" y="8510319"/>
            <a:ext cx="48741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>
              <a:spcAft>
                <a:spcPts val="600"/>
              </a:spcAft>
            </a:pPr>
            <a:r>
              <a:rPr lang="ru-RU" sz="3200" dirty="0">
                <a:latin typeface="Gotham" pitchFamily="50" charset="0"/>
                <a:cs typeface="Gotham" pitchFamily="50" charset="0"/>
              </a:rPr>
              <a:t>Производительность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3C98747C-4FF4-492D-8FC4-90022C00AD89}"/>
              </a:ext>
            </a:extLst>
          </p:cNvPr>
          <p:cNvSpPr txBox="1">
            <a:spLocks/>
          </p:cNvSpPr>
          <p:nvPr/>
        </p:nvSpPr>
        <p:spPr>
          <a:xfrm>
            <a:off x="83058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44783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A5E2CF4-07D9-47CD-8C61-A3611BEF04F6}"/>
              </a:ext>
            </a:extLst>
          </p:cNvPr>
          <p:cNvSpPr/>
          <p:nvPr/>
        </p:nvSpPr>
        <p:spPr>
          <a:xfrm>
            <a:off x="612228" y="5059206"/>
            <a:ext cx="9217572" cy="3944036"/>
          </a:xfrm>
          <a:prstGeom prst="roundRect">
            <a:avLst>
              <a:gd name="adj" fmla="val 21470"/>
            </a:avLst>
          </a:prstGeom>
          <a:solidFill>
            <a:schemeClr val="bg1"/>
          </a:solidFill>
          <a:ln w="50800">
            <a:solidFill>
              <a:srgbClr val="20B3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4" name="Freeform 4"/>
          <p:cNvSpPr/>
          <p:nvPr/>
        </p:nvSpPr>
        <p:spPr>
          <a:xfrm rot="10518460">
            <a:off x="-8454526" y="-9630346"/>
            <a:ext cx="15768684" cy="15768684"/>
          </a:xfrm>
          <a:custGeom>
            <a:avLst/>
            <a:gdLst/>
            <a:ahLst/>
            <a:cxnLst/>
            <a:rect l="l" t="t" r="r" b="b"/>
            <a:pathLst>
              <a:path w="15768684" h="15768684">
                <a:moveTo>
                  <a:pt x="0" y="0"/>
                </a:moveTo>
                <a:lnTo>
                  <a:pt x="15768684" y="0"/>
                </a:lnTo>
                <a:lnTo>
                  <a:pt x="15768684" y="15768684"/>
                </a:lnTo>
                <a:lnTo>
                  <a:pt x="0" y="15768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sz="1600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6DD1CC79-031E-4480-A6AF-8951176EFB7E}"/>
              </a:ext>
            </a:extLst>
          </p:cNvPr>
          <p:cNvSpPr txBox="1"/>
          <p:nvPr/>
        </p:nvSpPr>
        <p:spPr>
          <a:xfrm>
            <a:off x="917028" y="813065"/>
            <a:ext cx="8226972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7200" dirty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Экономическая и нормативная оценка</a:t>
            </a:r>
            <a:endParaRPr lang="en-US" sz="7200" dirty="0">
              <a:solidFill>
                <a:srgbClr val="000000"/>
              </a:solidFill>
              <a:latin typeface="Gotham Medium" pitchFamily="50" charset="0"/>
              <a:cs typeface="Gotham Medium" pitchFamily="50" charset="0"/>
            </a:endParaRPr>
          </a:p>
        </p:txBody>
      </p:sp>
      <p:sp>
        <p:nvSpPr>
          <p:cNvPr id="60" name="TextBox 25">
            <a:extLst>
              <a:ext uri="{FF2B5EF4-FFF2-40B4-BE49-F238E27FC236}">
                <a16:creationId xmlns:a16="http://schemas.microsoft.com/office/drawing/2014/main" id="{720B788B-D402-4503-8DAF-689C5066DBB4}"/>
              </a:ext>
            </a:extLst>
          </p:cNvPr>
          <p:cNvSpPr txBox="1"/>
          <p:nvPr/>
        </p:nvSpPr>
        <p:spPr>
          <a:xfrm>
            <a:off x="971626" y="5352844"/>
            <a:ext cx="8455572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149-ФЗ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 «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Об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информации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информационных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технологиях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 и о 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защите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информации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»</a:t>
            </a:r>
          </a:p>
          <a:p>
            <a:pPr>
              <a:spcBef>
                <a:spcPct val="0"/>
              </a:spcBef>
            </a:pPr>
            <a:r>
              <a:rPr lang="en-US" sz="32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152-ФЗ 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«О 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персональных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данных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»</a:t>
            </a:r>
          </a:p>
          <a:p>
            <a:pPr>
              <a:spcBef>
                <a:spcPct val="0"/>
              </a:spcBef>
            </a:pPr>
            <a:r>
              <a:rPr lang="en-US" sz="32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187-ФЗ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 «О 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безопасности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критической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информационной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инфраструктуры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Российской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Федерации</a:t>
            </a:r>
            <a:r>
              <a:rPr lang="en-US" sz="3200" dirty="0">
                <a:solidFill>
                  <a:srgbClr val="000000"/>
                </a:solidFill>
                <a:latin typeface="Gotham" pitchFamily="50" charset="0"/>
                <a:cs typeface="Gotham" pitchFamily="50" charset="0"/>
              </a:rPr>
              <a:t>»</a:t>
            </a:r>
          </a:p>
        </p:txBody>
      </p:sp>
      <p:sp>
        <p:nvSpPr>
          <p:cNvPr id="64" name="AutoShape 8">
            <a:extLst>
              <a:ext uri="{FF2B5EF4-FFF2-40B4-BE49-F238E27FC236}">
                <a16:creationId xmlns:a16="http://schemas.microsoft.com/office/drawing/2014/main" id="{278C28B3-92FC-4FDD-8E03-52D2ED2FB1C9}"/>
              </a:ext>
            </a:extLst>
          </p:cNvPr>
          <p:cNvSpPr/>
          <p:nvPr/>
        </p:nvSpPr>
        <p:spPr>
          <a:xfrm>
            <a:off x="10286999" y="0"/>
            <a:ext cx="56223" cy="10287000"/>
          </a:xfrm>
          <a:prstGeom prst="line">
            <a:avLst/>
          </a:prstGeom>
          <a:ln w="25400" cap="flat">
            <a:solidFill>
              <a:srgbClr val="27B6D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FB84D24-E6B2-4DEA-845E-1DA2D3631B81}"/>
              </a:ext>
            </a:extLst>
          </p:cNvPr>
          <p:cNvSpPr/>
          <p:nvPr/>
        </p:nvSpPr>
        <p:spPr>
          <a:xfrm>
            <a:off x="10970172" y="758282"/>
            <a:ext cx="6952650" cy="2447683"/>
          </a:xfrm>
          <a:prstGeom prst="roundRect">
            <a:avLst>
              <a:gd name="adj" fmla="val 21470"/>
            </a:avLst>
          </a:prstGeom>
          <a:solidFill>
            <a:schemeClr val="bg1"/>
          </a:solidFill>
          <a:ln w="50800">
            <a:solidFill>
              <a:srgbClr val="20B3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DA79B2C-08EE-4938-86DF-E210EE5526E8}"/>
              </a:ext>
            </a:extLst>
          </p:cNvPr>
          <p:cNvSpPr/>
          <p:nvPr/>
        </p:nvSpPr>
        <p:spPr>
          <a:xfrm>
            <a:off x="10970172" y="4013049"/>
            <a:ext cx="6952650" cy="3507282"/>
          </a:xfrm>
          <a:prstGeom prst="roundRect">
            <a:avLst>
              <a:gd name="adj" fmla="val 21470"/>
            </a:avLst>
          </a:prstGeom>
          <a:solidFill>
            <a:schemeClr val="bg1"/>
          </a:solidFill>
          <a:ln w="50800">
            <a:solidFill>
              <a:srgbClr val="20B3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BC9C637-A1FC-47CC-A655-2F8801A8D475}"/>
              </a:ext>
            </a:extLst>
          </p:cNvPr>
          <p:cNvSpPr/>
          <p:nvPr/>
        </p:nvSpPr>
        <p:spPr>
          <a:xfrm>
            <a:off x="10970172" y="8304878"/>
            <a:ext cx="6952650" cy="1410621"/>
          </a:xfrm>
          <a:prstGeom prst="roundRect">
            <a:avLst>
              <a:gd name="adj" fmla="val 21470"/>
            </a:avLst>
          </a:prstGeom>
          <a:solidFill>
            <a:schemeClr val="bg1"/>
          </a:solidFill>
          <a:ln w="50800">
            <a:solidFill>
              <a:srgbClr val="20B3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4A09E7-C1AF-47BC-B360-A70CBF748B29}"/>
              </a:ext>
            </a:extLst>
          </p:cNvPr>
          <p:cNvSpPr txBox="1"/>
          <p:nvPr/>
        </p:nvSpPr>
        <p:spPr>
          <a:xfrm>
            <a:off x="12546285" y="117324"/>
            <a:ext cx="3580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ПО – </a:t>
            </a:r>
            <a:r>
              <a:rPr lang="ru-RU" sz="3200" dirty="0">
                <a:latin typeface="Gotham" pitchFamily="50" charset="0"/>
                <a:cs typeface="Gotham" pitchFamily="50" charset="0"/>
              </a:rPr>
              <a:t>10.000 ₽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868F48-0E91-4052-B676-B74169435B94}"/>
              </a:ext>
            </a:extLst>
          </p:cNvPr>
          <p:cNvSpPr txBox="1"/>
          <p:nvPr/>
        </p:nvSpPr>
        <p:spPr>
          <a:xfrm>
            <a:off x="11558141" y="3366833"/>
            <a:ext cx="555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УСТРОЙСТВО – </a:t>
            </a:r>
            <a:r>
              <a:rPr lang="ru-RU" sz="3200" dirty="0">
                <a:latin typeface="Gotham" pitchFamily="50" charset="0"/>
                <a:cs typeface="Gotham" pitchFamily="50" charset="0"/>
              </a:rPr>
              <a:t>70.000 ₽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88678E8-6908-4666-A547-19EE83296EED}"/>
              </a:ext>
            </a:extLst>
          </p:cNvPr>
          <p:cNvSpPr txBox="1"/>
          <p:nvPr/>
        </p:nvSpPr>
        <p:spPr>
          <a:xfrm>
            <a:off x="11507295" y="7672777"/>
            <a:ext cx="5631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КОМПЛЕКС – </a:t>
            </a:r>
            <a:r>
              <a:rPr lang="ru-RU" sz="3200" dirty="0">
                <a:latin typeface="Gotham" pitchFamily="50" charset="0"/>
                <a:cs typeface="Gotham" pitchFamily="50" charset="0"/>
              </a:rPr>
              <a:t>от 80.000 ₽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B331D6B3-D6C6-45FE-9A8D-6CB0D4702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600" y="1467311"/>
            <a:ext cx="954107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B3674607-B96B-46A6-AC56-60C13587C4A1}"/>
              </a:ext>
            </a:extLst>
          </p:cNvPr>
          <p:cNvSpPr txBox="1"/>
          <p:nvPr/>
        </p:nvSpPr>
        <p:spPr>
          <a:xfrm>
            <a:off x="12341087" y="1040225"/>
            <a:ext cx="39908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Зарплата </a:t>
            </a:r>
            <a:r>
              <a:rPr lang="en-GB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junior</a:t>
            </a:r>
            <a:r>
              <a:rPr lang="ru-RU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-разработчика (</a:t>
            </a:r>
            <a:r>
              <a:rPr lang="en-GB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Python</a:t>
            </a:r>
            <a:r>
              <a:rPr lang="ru-RU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)</a:t>
            </a:r>
            <a:endParaRPr lang="ru-RU" sz="2400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517173-792D-44C2-AE80-BB452E853A78}"/>
              </a:ext>
            </a:extLst>
          </p:cNvPr>
          <p:cNvSpPr txBox="1"/>
          <p:nvPr/>
        </p:nvSpPr>
        <p:spPr>
          <a:xfrm>
            <a:off x="12315690" y="1982122"/>
            <a:ext cx="39908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Зарплата </a:t>
            </a:r>
            <a:r>
              <a:rPr lang="ru-RU" sz="2400" dirty="0"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специалиста по ИБ</a:t>
            </a:r>
            <a:endParaRPr lang="ru-RU" sz="2400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9FD01-8DC7-4119-838A-8CC1A53C1FE3}"/>
              </a:ext>
            </a:extLst>
          </p:cNvPr>
          <p:cNvSpPr txBox="1"/>
          <p:nvPr/>
        </p:nvSpPr>
        <p:spPr>
          <a:xfrm>
            <a:off x="15923171" y="993805"/>
            <a:ext cx="1861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50.000</a:t>
            </a:r>
            <a:r>
              <a:rPr lang="en-US" sz="2800" b="0" dirty="0">
                <a:solidFill>
                  <a:srgbClr val="27B6D5"/>
                </a:solidFill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 </a:t>
            </a:r>
            <a:r>
              <a:rPr lang="ru-RU" sz="3200" b="0" dirty="0">
                <a:solidFill>
                  <a:srgbClr val="27B6D5"/>
                </a:solidFill>
                <a:effectLst/>
                <a:latin typeface="+mn-lt"/>
                <a:ea typeface="Calibri" panose="020F0502020204030204" pitchFamily="34" charset="0"/>
                <a:cs typeface="Gotham" pitchFamily="50" charset="0"/>
              </a:rPr>
              <a:t>₽</a:t>
            </a:r>
            <a:endParaRPr lang="ru-RU" sz="2800" dirty="0">
              <a:solidFill>
                <a:srgbClr val="27B6D5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66C2C89-BBA6-4BAC-86C7-05C2AEC751F3}"/>
              </a:ext>
            </a:extLst>
          </p:cNvPr>
          <p:cNvSpPr txBox="1"/>
          <p:nvPr/>
        </p:nvSpPr>
        <p:spPr>
          <a:xfrm>
            <a:off x="15938015" y="2268019"/>
            <a:ext cx="1861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70.000</a:t>
            </a:r>
            <a:r>
              <a:rPr lang="en-US" sz="2800" b="0" dirty="0">
                <a:solidFill>
                  <a:srgbClr val="27B6D5"/>
                </a:solidFill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 </a:t>
            </a:r>
            <a:r>
              <a:rPr lang="ru-RU" sz="3200" b="0" dirty="0">
                <a:solidFill>
                  <a:srgbClr val="27B6D5"/>
                </a:solidFill>
                <a:effectLst/>
                <a:latin typeface="+mn-lt"/>
                <a:ea typeface="Calibri" panose="020F0502020204030204" pitchFamily="34" charset="0"/>
                <a:cs typeface="Gotham" pitchFamily="50" charset="0"/>
              </a:rPr>
              <a:t>₽</a:t>
            </a:r>
            <a:endParaRPr lang="ru-RU" sz="2800" dirty="0">
              <a:solidFill>
                <a:srgbClr val="27B6D5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C76A24F-E422-4A13-B728-AD8C906C83CF}"/>
              </a:ext>
            </a:extLst>
          </p:cNvPr>
          <p:cNvSpPr txBox="1"/>
          <p:nvPr/>
        </p:nvSpPr>
        <p:spPr>
          <a:xfrm>
            <a:off x="11304457" y="6851382"/>
            <a:ext cx="3990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Оплата труда</a:t>
            </a:r>
            <a:endParaRPr lang="ru-RU" sz="2400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3A1AB34-E394-4921-8BE5-6682DEE21C6F}"/>
              </a:ext>
            </a:extLst>
          </p:cNvPr>
          <p:cNvSpPr txBox="1"/>
          <p:nvPr/>
        </p:nvSpPr>
        <p:spPr>
          <a:xfrm>
            <a:off x="15628741" y="6831419"/>
            <a:ext cx="2021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120.000</a:t>
            </a:r>
            <a:r>
              <a:rPr lang="en-US" sz="2800" b="0" dirty="0">
                <a:solidFill>
                  <a:srgbClr val="27B6D5"/>
                </a:solidFill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 </a:t>
            </a:r>
            <a:r>
              <a:rPr lang="ru-RU" sz="3200" b="0" dirty="0">
                <a:solidFill>
                  <a:srgbClr val="27B6D5"/>
                </a:solidFill>
                <a:effectLst/>
                <a:latin typeface="+mn-lt"/>
                <a:ea typeface="Calibri" panose="020F0502020204030204" pitchFamily="34" charset="0"/>
                <a:cs typeface="Gotham" pitchFamily="50" charset="0"/>
              </a:rPr>
              <a:t>₽</a:t>
            </a:r>
            <a:endParaRPr lang="ru-RU" sz="2800" dirty="0">
              <a:solidFill>
                <a:srgbClr val="27B6D5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3430074-667A-4389-A7D7-2996231C90B1}"/>
              </a:ext>
            </a:extLst>
          </p:cNvPr>
          <p:cNvSpPr txBox="1"/>
          <p:nvPr/>
        </p:nvSpPr>
        <p:spPr>
          <a:xfrm>
            <a:off x="11311759" y="4250994"/>
            <a:ext cx="38616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Raspberry Pi </a:t>
            </a:r>
            <a:r>
              <a:rPr lang="ru-RU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3 </a:t>
            </a:r>
            <a:r>
              <a:rPr lang="en-GB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model B</a:t>
            </a:r>
            <a:endParaRPr lang="ru-RU" sz="2400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6B465A-94EB-4896-9F85-4A820F113807}"/>
              </a:ext>
            </a:extLst>
          </p:cNvPr>
          <p:cNvSpPr txBox="1"/>
          <p:nvPr/>
        </p:nvSpPr>
        <p:spPr>
          <a:xfrm>
            <a:off x="11319202" y="4833636"/>
            <a:ext cx="24541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Блок питания</a:t>
            </a:r>
            <a:endParaRPr lang="ru-RU" sz="2400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FCCE2DA-4E79-4D34-ACB3-305F1FBCCC19}"/>
              </a:ext>
            </a:extLst>
          </p:cNvPr>
          <p:cNvSpPr txBox="1"/>
          <p:nvPr/>
        </p:nvSpPr>
        <p:spPr>
          <a:xfrm>
            <a:off x="11310235" y="5409165"/>
            <a:ext cx="29875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microSD </a:t>
            </a:r>
            <a:r>
              <a:rPr lang="ru-RU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карта 8 ГБ</a:t>
            </a:r>
            <a:endParaRPr lang="ru-RU" sz="2400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89B77D6-47EA-4D9E-BB58-3BA175B68BDC}"/>
              </a:ext>
            </a:extLst>
          </p:cNvPr>
          <p:cNvSpPr txBox="1"/>
          <p:nvPr/>
        </p:nvSpPr>
        <p:spPr>
          <a:xfrm>
            <a:off x="11319202" y="6265321"/>
            <a:ext cx="38541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Сенсорный дисплей 7</a:t>
            </a:r>
            <a:r>
              <a:rPr lang="en-US" sz="2400" dirty="0"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”</a:t>
            </a:r>
            <a:endParaRPr lang="ru-RU" sz="2400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65DC466-10D1-454C-88C6-4930FEFCD5B9}"/>
              </a:ext>
            </a:extLst>
          </p:cNvPr>
          <p:cNvSpPr txBox="1"/>
          <p:nvPr/>
        </p:nvSpPr>
        <p:spPr>
          <a:xfrm>
            <a:off x="15628741" y="6203765"/>
            <a:ext cx="2021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4.527</a:t>
            </a:r>
            <a:r>
              <a:rPr lang="en-US" sz="2800" b="0" dirty="0">
                <a:solidFill>
                  <a:srgbClr val="27B6D5"/>
                </a:solidFill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 </a:t>
            </a:r>
            <a:r>
              <a:rPr lang="ru-RU" sz="3200" b="0" dirty="0">
                <a:solidFill>
                  <a:srgbClr val="27B6D5"/>
                </a:solidFill>
                <a:effectLst/>
                <a:latin typeface="+mn-lt"/>
                <a:ea typeface="Calibri" panose="020F0502020204030204" pitchFamily="34" charset="0"/>
                <a:cs typeface="Gotham" pitchFamily="50" charset="0"/>
              </a:rPr>
              <a:t>₽</a:t>
            </a:r>
            <a:endParaRPr lang="ru-RU" sz="2800" dirty="0">
              <a:solidFill>
                <a:srgbClr val="27B6D5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468309B-9FA4-4533-9A5B-2F2B1C570A64}"/>
              </a:ext>
            </a:extLst>
          </p:cNvPr>
          <p:cNvSpPr txBox="1"/>
          <p:nvPr/>
        </p:nvSpPr>
        <p:spPr>
          <a:xfrm>
            <a:off x="15628741" y="5449976"/>
            <a:ext cx="2021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550</a:t>
            </a:r>
            <a:r>
              <a:rPr lang="en-US" sz="2800" b="0" dirty="0">
                <a:solidFill>
                  <a:srgbClr val="27B6D5"/>
                </a:solidFill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 </a:t>
            </a:r>
            <a:r>
              <a:rPr lang="ru-RU" sz="3200" b="0" dirty="0">
                <a:solidFill>
                  <a:srgbClr val="27B6D5"/>
                </a:solidFill>
                <a:effectLst/>
                <a:latin typeface="+mn-lt"/>
                <a:ea typeface="Calibri" panose="020F0502020204030204" pitchFamily="34" charset="0"/>
                <a:cs typeface="Gotham" pitchFamily="50" charset="0"/>
              </a:rPr>
              <a:t>₽</a:t>
            </a:r>
            <a:endParaRPr lang="ru-RU" sz="2800" dirty="0">
              <a:solidFill>
                <a:srgbClr val="27B6D5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9FB48BB-0F6A-40E6-B2DA-BA15E5A54F75}"/>
              </a:ext>
            </a:extLst>
          </p:cNvPr>
          <p:cNvSpPr txBox="1"/>
          <p:nvPr/>
        </p:nvSpPr>
        <p:spPr>
          <a:xfrm>
            <a:off x="15628741" y="4824390"/>
            <a:ext cx="2021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1.550</a:t>
            </a:r>
            <a:r>
              <a:rPr lang="en-US" sz="2800" b="0" dirty="0">
                <a:solidFill>
                  <a:srgbClr val="27B6D5"/>
                </a:solidFill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 </a:t>
            </a:r>
            <a:r>
              <a:rPr lang="ru-RU" sz="3200" b="0" dirty="0">
                <a:solidFill>
                  <a:srgbClr val="27B6D5"/>
                </a:solidFill>
                <a:effectLst/>
                <a:latin typeface="+mn-lt"/>
                <a:ea typeface="Calibri" panose="020F0502020204030204" pitchFamily="34" charset="0"/>
                <a:cs typeface="Gotham" pitchFamily="50" charset="0"/>
              </a:rPr>
              <a:t>₽</a:t>
            </a:r>
            <a:endParaRPr lang="ru-RU" sz="2800" dirty="0">
              <a:solidFill>
                <a:srgbClr val="27B6D5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D4714D9-CAD5-4465-944E-F7F7C8D1D832}"/>
              </a:ext>
            </a:extLst>
          </p:cNvPr>
          <p:cNvSpPr txBox="1"/>
          <p:nvPr/>
        </p:nvSpPr>
        <p:spPr>
          <a:xfrm>
            <a:off x="15629543" y="4189438"/>
            <a:ext cx="2021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27B6D5"/>
                </a:solidFill>
                <a:latin typeface="Gotham" pitchFamily="50" charset="0"/>
                <a:cs typeface="Gotham" pitchFamily="50" charset="0"/>
              </a:rPr>
              <a:t>15.399</a:t>
            </a:r>
            <a:r>
              <a:rPr lang="en-US" sz="2800" b="0" dirty="0">
                <a:solidFill>
                  <a:srgbClr val="27B6D5"/>
                </a:solidFill>
                <a:effectLst/>
                <a:latin typeface="Gotham" pitchFamily="50" charset="0"/>
                <a:ea typeface="Calibri" panose="020F0502020204030204" pitchFamily="34" charset="0"/>
                <a:cs typeface="Gotham" pitchFamily="50" charset="0"/>
              </a:rPr>
              <a:t> </a:t>
            </a:r>
            <a:r>
              <a:rPr lang="ru-RU" sz="3200" b="0" dirty="0">
                <a:solidFill>
                  <a:srgbClr val="27B6D5"/>
                </a:solidFill>
                <a:effectLst/>
                <a:latin typeface="+mn-lt"/>
                <a:ea typeface="Calibri" panose="020F0502020204030204" pitchFamily="34" charset="0"/>
                <a:cs typeface="Gotham" pitchFamily="50" charset="0"/>
              </a:rPr>
              <a:t>₽</a:t>
            </a:r>
            <a:endParaRPr lang="ru-RU" sz="2800" dirty="0">
              <a:solidFill>
                <a:srgbClr val="27B6D5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B8A1220-7CF2-43B0-8F25-43B89EA1DAB1}"/>
              </a:ext>
            </a:extLst>
          </p:cNvPr>
          <p:cNvSpPr txBox="1"/>
          <p:nvPr/>
        </p:nvSpPr>
        <p:spPr>
          <a:xfrm>
            <a:off x="11796489" y="8464633"/>
            <a:ext cx="53000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Gotham" pitchFamily="50" charset="0"/>
                <a:cs typeface="Gotham" pitchFamily="50" charset="0"/>
              </a:rPr>
              <a:t>Цена формируется согласно ТЗ заказчика</a:t>
            </a:r>
          </a:p>
        </p:txBody>
      </p:sp>
      <p:sp>
        <p:nvSpPr>
          <p:cNvPr id="30" name="Slide Number Placeholder 8">
            <a:extLst>
              <a:ext uri="{FF2B5EF4-FFF2-40B4-BE49-F238E27FC236}">
                <a16:creationId xmlns:a16="http://schemas.microsoft.com/office/drawing/2014/main" id="{000DCFFB-9237-4078-8718-1899ED0469A1}"/>
              </a:ext>
            </a:extLst>
          </p:cNvPr>
          <p:cNvSpPr txBox="1">
            <a:spLocks/>
          </p:cNvSpPr>
          <p:nvPr/>
        </p:nvSpPr>
        <p:spPr>
          <a:xfrm>
            <a:off x="83058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93078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5553" y="-10625184"/>
            <a:ext cx="15768684" cy="15768684"/>
          </a:xfrm>
          <a:custGeom>
            <a:avLst/>
            <a:gdLst/>
            <a:ahLst/>
            <a:cxnLst/>
            <a:rect l="l" t="t" r="r" b="b"/>
            <a:pathLst>
              <a:path w="15768684" h="15768684">
                <a:moveTo>
                  <a:pt x="0" y="0"/>
                </a:moveTo>
                <a:lnTo>
                  <a:pt x="15768684" y="0"/>
                </a:lnTo>
                <a:lnTo>
                  <a:pt x="15768684" y="15768684"/>
                </a:lnTo>
                <a:lnTo>
                  <a:pt x="0" y="15768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692836" y="539005"/>
            <a:ext cx="8902328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ru-RU" sz="8800" dirty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Тестирование</a:t>
            </a:r>
            <a:endParaRPr lang="en-US" sz="8800" dirty="0">
              <a:solidFill>
                <a:srgbClr val="000000"/>
              </a:solidFill>
              <a:latin typeface="Gotham Medium" pitchFamily="50" charset="0"/>
              <a:cs typeface="Gotham Medium" pitchFamily="50" charset="0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4845C07D-7D8F-4D03-8961-D443EAC4C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9566790"/>
              </p:ext>
            </p:extLst>
          </p:nvPr>
        </p:nvGraphicFramePr>
        <p:xfrm>
          <a:off x="7620000" y="2324100"/>
          <a:ext cx="9982200" cy="6972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21BD7F9-A794-4213-9DED-1899F2AB354D}"/>
              </a:ext>
            </a:extLst>
          </p:cNvPr>
          <p:cNvSpPr/>
          <p:nvPr/>
        </p:nvSpPr>
        <p:spPr>
          <a:xfrm>
            <a:off x="685800" y="2320159"/>
            <a:ext cx="6477000" cy="1872807"/>
          </a:xfrm>
          <a:prstGeom prst="rect">
            <a:avLst/>
          </a:prstGeom>
          <a:noFill/>
          <a:ln w="38100">
            <a:solidFill>
              <a:srgbClr val="3CBCD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9D3E8C-FC21-4C8C-8A3E-5565553372AC}"/>
              </a:ext>
            </a:extLst>
          </p:cNvPr>
          <p:cNvSpPr/>
          <p:nvPr/>
        </p:nvSpPr>
        <p:spPr>
          <a:xfrm>
            <a:off x="685800" y="4682364"/>
            <a:ext cx="6477000" cy="1872807"/>
          </a:xfrm>
          <a:prstGeom prst="rect">
            <a:avLst/>
          </a:prstGeom>
          <a:noFill/>
          <a:ln w="38100">
            <a:solidFill>
              <a:srgbClr val="3CBCD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CB456E-0B64-4667-BD0F-08DB9C52D09F}"/>
              </a:ext>
            </a:extLst>
          </p:cNvPr>
          <p:cNvSpPr/>
          <p:nvPr/>
        </p:nvSpPr>
        <p:spPr>
          <a:xfrm>
            <a:off x="685800" y="7068100"/>
            <a:ext cx="6477000" cy="1872807"/>
          </a:xfrm>
          <a:prstGeom prst="rect">
            <a:avLst/>
          </a:prstGeom>
          <a:noFill/>
          <a:ln w="38100">
            <a:solidFill>
              <a:srgbClr val="3CBCD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5D779-B6AB-4DCC-9773-4226F0173F17}"/>
              </a:ext>
            </a:extLst>
          </p:cNvPr>
          <p:cNvSpPr txBox="1"/>
          <p:nvPr/>
        </p:nvSpPr>
        <p:spPr>
          <a:xfrm>
            <a:off x="838199" y="2496154"/>
            <a:ext cx="163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81A6D0"/>
                </a:solidFill>
                <a:latin typeface="Gotham" panose="020B0604020202020204" charset="0"/>
                <a:cs typeface="Gotham" panose="020B0604020202020204" charset="0"/>
              </a:rPr>
              <a:t>IoT + AI</a:t>
            </a:r>
            <a:endParaRPr lang="ru-RU" sz="2800" b="1" dirty="0">
              <a:solidFill>
                <a:srgbClr val="81A6D0"/>
              </a:solidFill>
              <a:latin typeface="Gotham" panose="020B0604020202020204" charset="0"/>
              <a:cs typeface="Gotham" panose="020B060402020202020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2887BF-6FBC-4A97-A59F-27FC9C54BC4F}"/>
              </a:ext>
            </a:extLst>
          </p:cNvPr>
          <p:cNvSpPr txBox="1"/>
          <p:nvPr/>
        </p:nvSpPr>
        <p:spPr>
          <a:xfrm>
            <a:off x="838200" y="4876745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B8CF8A"/>
                </a:solidFill>
                <a:latin typeface="Gotham" panose="020B0604020202020204" charset="0"/>
                <a:cs typeface="Gotham" panose="020B0604020202020204" charset="0"/>
              </a:rPr>
              <a:t>AI</a:t>
            </a:r>
            <a:endParaRPr lang="ru-RU" sz="2800" b="1" dirty="0">
              <a:solidFill>
                <a:srgbClr val="B8CF8A"/>
              </a:solidFill>
              <a:latin typeface="Gotham" panose="020B0604020202020204" charset="0"/>
              <a:cs typeface="Gotham" panose="020B060402020202020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83B261-EA27-4ABD-AFA4-D5086748DFB8}"/>
              </a:ext>
            </a:extLst>
          </p:cNvPr>
          <p:cNvSpPr txBox="1"/>
          <p:nvPr/>
        </p:nvSpPr>
        <p:spPr>
          <a:xfrm>
            <a:off x="838200" y="7294534"/>
            <a:ext cx="1905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80C5D7"/>
                </a:solidFill>
                <a:latin typeface="Gotham" panose="020B0604020202020204" charset="0"/>
                <a:cs typeface="Gotham" panose="020B0604020202020204" charset="0"/>
              </a:rPr>
              <a:t>Common Users</a:t>
            </a:r>
            <a:endParaRPr lang="ru-RU" sz="2800" b="1" dirty="0">
              <a:solidFill>
                <a:srgbClr val="80C5D7"/>
              </a:solidFill>
              <a:latin typeface="Gotham" panose="020B0604020202020204" charset="0"/>
              <a:cs typeface="Gotham" panose="020B060402020202020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1F15963-ADEC-46BC-BFDD-59AC7E106E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84" y="4682363"/>
            <a:ext cx="1961573" cy="196157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957BDDD-1AC3-4165-839B-9B578134D2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048" y="4663804"/>
            <a:ext cx="1961574" cy="196157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B69E74E-7C25-4183-A9E6-11AF85A4C24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497" y="4678506"/>
            <a:ext cx="1954701" cy="195470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5DD163B-DE3D-46A1-8E2A-074EB8A359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366" y="4679667"/>
            <a:ext cx="1959933" cy="195993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5D8A301-9DE2-4345-B97C-2791EDDF8BB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013" y="7082323"/>
            <a:ext cx="1042560" cy="104256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155F9CB-CC7B-447E-8181-B67B4E66110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685" y="7075653"/>
            <a:ext cx="1042560" cy="104256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6ADB59E-A210-4AF6-8E6F-0AD67E21483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911" y="7933712"/>
            <a:ext cx="1042560" cy="104256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BD12C64-7A32-49F6-B066-D43F91498E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446" y="7933712"/>
            <a:ext cx="1042560" cy="10425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201C859-D8E7-4100-9474-BA83CBAD6C6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709" y="7942992"/>
            <a:ext cx="1042560" cy="104256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114FEB4-7AE5-43A0-A2F7-142AA6B02A8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013" y="7933712"/>
            <a:ext cx="1042560" cy="104256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6B6AAC9-37A1-4683-A658-50129A2CF45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321" y="7077188"/>
            <a:ext cx="1042560" cy="104256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7B10D45-C7B7-49B6-8374-F9308C4533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405" y="7074493"/>
            <a:ext cx="1042560" cy="104256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D869A5C-C75C-4A5B-9F5B-4395B188A3B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333" y="7519910"/>
            <a:ext cx="1042560" cy="104256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C83CC05-B98E-4B0A-B8FD-7B693A84DF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30" y="2259509"/>
            <a:ext cx="1961573" cy="196157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6D06ECE-BB7A-4F66-88FC-DC7F41A6AE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168" y="2287062"/>
            <a:ext cx="1961573" cy="196157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D2F1FE6-48E7-48FA-A8EC-74A68A8D9B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506" y="2279509"/>
            <a:ext cx="1961573" cy="1961573"/>
          </a:xfrm>
          <a:prstGeom prst="rect">
            <a:avLst/>
          </a:prstGeom>
        </p:spPr>
      </p:pic>
      <p:sp>
        <p:nvSpPr>
          <p:cNvPr id="51" name="Slide Number Placeholder 8">
            <a:extLst>
              <a:ext uri="{FF2B5EF4-FFF2-40B4-BE49-F238E27FC236}">
                <a16:creationId xmlns:a16="http://schemas.microsoft.com/office/drawing/2014/main" id="{481F2C1E-50FD-4529-89BC-9DCB8064C1F7}"/>
              </a:ext>
            </a:extLst>
          </p:cNvPr>
          <p:cNvSpPr txBox="1">
            <a:spLocks/>
          </p:cNvSpPr>
          <p:nvPr/>
        </p:nvSpPr>
        <p:spPr>
          <a:xfrm>
            <a:off x="83058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1726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BBF63D0-ACE7-44E1-94CC-4B4910723E49}"/>
              </a:ext>
            </a:extLst>
          </p:cNvPr>
          <p:cNvSpPr/>
          <p:nvPr/>
        </p:nvSpPr>
        <p:spPr>
          <a:xfrm flipH="1" flipV="1">
            <a:off x="0" y="-139916"/>
            <a:ext cx="18382649" cy="11029589"/>
          </a:xfrm>
          <a:custGeom>
            <a:avLst/>
            <a:gdLst/>
            <a:ahLst/>
            <a:cxnLst/>
            <a:rect l="l" t="t" r="r" b="b"/>
            <a:pathLst>
              <a:path w="18382649" h="11029589">
                <a:moveTo>
                  <a:pt x="18382649" y="11029589"/>
                </a:moveTo>
                <a:lnTo>
                  <a:pt x="0" y="11029589"/>
                </a:lnTo>
                <a:lnTo>
                  <a:pt x="0" y="0"/>
                </a:lnTo>
                <a:lnTo>
                  <a:pt x="18382649" y="0"/>
                </a:lnTo>
                <a:lnTo>
                  <a:pt x="18382649" y="110295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2" name="Freeform 2"/>
          <p:cNvSpPr/>
          <p:nvPr/>
        </p:nvSpPr>
        <p:spPr>
          <a:xfrm>
            <a:off x="-8396853" y="1828696"/>
            <a:ext cx="17540853" cy="17540853"/>
          </a:xfrm>
          <a:custGeom>
            <a:avLst/>
            <a:gdLst/>
            <a:ahLst/>
            <a:cxnLst/>
            <a:rect l="l" t="t" r="r" b="b"/>
            <a:pathLst>
              <a:path w="17540853" h="17540853">
                <a:moveTo>
                  <a:pt x="0" y="0"/>
                </a:moveTo>
                <a:lnTo>
                  <a:pt x="17540853" y="0"/>
                </a:lnTo>
                <a:lnTo>
                  <a:pt x="17540853" y="17540853"/>
                </a:lnTo>
                <a:lnTo>
                  <a:pt x="0" y="175408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96200" y="-8090497"/>
            <a:ext cx="15937397" cy="15937397"/>
          </a:xfrm>
          <a:custGeom>
            <a:avLst/>
            <a:gdLst/>
            <a:ahLst/>
            <a:cxnLst/>
            <a:rect l="l" t="t" r="r" b="b"/>
            <a:pathLst>
              <a:path w="15937397" h="15937397">
                <a:moveTo>
                  <a:pt x="0" y="0"/>
                </a:moveTo>
                <a:lnTo>
                  <a:pt x="15937397" y="0"/>
                </a:lnTo>
                <a:lnTo>
                  <a:pt x="15937397" y="15937397"/>
                </a:lnTo>
                <a:lnTo>
                  <a:pt x="0" y="159373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3886200" y="6362700"/>
            <a:ext cx="102108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9CA70E-2072-44A4-9B50-E5599D7F8F06}"/>
              </a:ext>
            </a:extLst>
          </p:cNvPr>
          <p:cNvSpPr txBox="1"/>
          <p:nvPr/>
        </p:nvSpPr>
        <p:spPr>
          <a:xfrm>
            <a:off x="1028700" y="4590048"/>
            <a:ext cx="16230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600" dirty="0">
                <a:solidFill>
                  <a:schemeClr val="bg1"/>
                </a:solidFill>
                <a:latin typeface="Gotham Medium" pitchFamily="50" charset="0"/>
                <a:cs typeface="Gotham Medium" pitchFamily="50" charset="0"/>
              </a:rPr>
              <a:t>Демонстрация</a:t>
            </a:r>
            <a:endParaRPr lang="en-US" sz="9600" dirty="0">
              <a:solidFill>
                <a:schemeClr val="bg1"/>
              </a:solidFill>
              <a:latin typeface="Gotham Medium" pitchFamily="50" charset="0"/>
              <a:cs typeface="Gotham Medium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170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396853" y="1828696"/>
            <a:ext cx="17540853" cy="17540853"/>
          </a:xfrm>
          <a:custGeom>
            <a:avLst/>
            <a:gdLst/>
            <a:ahLst/>
            <a:cxnLst/>
            <a:rect l="l" t="t" r="r" b="b"/>
            <a:pathLst>
              <a:path w="17540853" h="17540853">
                <a:moveTo>
                  <a:pt x="0" y="0"/>
                </a:moveTo>
                <a:lnTo>
                  <a:pt x="17540853" y="0"/>
                </a:lnTo>
                <a:lnTo>
                  <a:pt x="17540853" y="17540853"/>
                </a:lnTo>
                <a:lnTo>
                  <a:pt x="0" y="175408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7696200" y="-8090497"/>
            <a:ext cx="15937397" cy="15937397"/>
          </a:xfrm>
          <a:custGeom>
            <a:avLst/>
            <a:gdLst/>
            <a:ahLst/>
            <a:cxnLst/>
            <a:rect l="l" t="t" r="r" b="b"/>
            <a:pathLst>
              <a:path w="15937397" h="15937397">
                <a:moveTo>
                  <a:pt x="0" y="0"/>
                </a:moveTo>
                <a:lnTo>
                  <a:pt x="15937397" y="0"/>
                </a:lnTo>
                <a:lnTo>
                  <a:pt x="15937397" y="15937397"/>
                </a:lnTo>
                <a:lnTo>
                  <a:pt x="0" y="15937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028700" y="73533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9CA70E-2072-44A4-9B50-E5599D7F8F06}"/>
              </a:ext>
            </a:extLst>
          </p:cNvPr>
          <p:cNvSpPr txBox="1"/>
          <p:nvPr/>
        </p:nvSpPr>
        <p:spPr>
          <a:xfrm>
            <a:off x="1028700" y="3322083"/>
            <a:ext cx="162306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dirty="0" err="1">
                <a:latin typeface="Gotham Medium" pitchFamily="50" charset="0"/>
                <a:cs typeface="Gotham Medium" pitchFamily="50" charset="0"/>
              </a:rPr>
              <a:t>RegulIoT</a:t>
            </a:r>
            <a:endParaRPr lang="en-US" sz="8800" dirty="0">
              <a:latin typeface="Gotham Medium" pitchFamily="50" charset="0"/>
              <a:cs typeface="Gotham Medium" pitchFamily="50" charset="0"/>
            </a:endParaRPr>
          </a:p>
          <a:p>
            <a:r>
              <a:rPr lang="ru-RU" sz="7200" dirty="0">
                <a:latin typeface="Gotham"/>
              </a:rPr>
              <a:t>умное обеспечение безопасности</a:t>
            </a:r>
            <a:r>
              <a:rPr lang="en-US" sz="7200" dirty="0">
                <a:latin typeface="Gotham"/>
              </a:rPr>
              <a:t> Интернета </a:t>
            </a:r>
            <a:r>
              <a:rPr lang="ru-RU" sz="7200" dirty="0">
                <a:latin typeface="Gotham"/>
              </a:rPr>
              <a:t>в</a:t>
            </a:r>
            <a:r>
              <a:rPr lang="en-US" sz="7200" dirty="0">
                <a:latin typeface="Gotham"/>
              </a:rPr>
              <a:t>ещей </a:t>
            </a:r>
          </a:p>
        </p:txBody>
      </p:sp>
    </p:spTree>
    <p:extLst>
      <p:ext uri="{BB962C8B-B14F-4D97-AF65-F5344CB8AC3E}">
        <p14:creationId xmlns:p14="http://schemas.microsoft.com/office/powerpoint/2010/main" val="953915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4209</TotalTime>
  <Words>606</Words>
  <Application>Microsoft Office PowerPoint</Application>
  <PresentationFormat>Custom</PresentationFormat>
  <Paragraphs>159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Courier New</vt:lpstr>
      <vt:lpstr>Calibri</vt:lpstr>
      <vt:lpstr>Gotham Medium</vt:lpstr>
      <vt:lpstr>Arial</vt:lpstr>
      <vt:lpstr>Times New Roman</vt:lpstr>
      <vt:lpstr>Consolas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Victoria Yurina</dc:creator>
  <cp:lastModifiedBy>Victoria Yurina</cp:lastModifiedBy>
  <cp:revision>125</cp:revision>
  <dcterms:created xsi:type="dcterms:W3CDTF">2006-08-16T00:00:00Z</dcterms:created>
  <dcterms:modified xsi:type="dcterms:W3CDTF">2024-04-14T21:21:06Z</dcterms:modified>
  <dc:identifier>DAGBw-XDDbU</dc:identifier>
</cp:coreProperties>
</file>